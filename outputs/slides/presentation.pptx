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3333"/>
                </a:solidFill>
                <a:latin typeface="Arial"/>
              </a:rPr>
              <a:t>Frozen IoU @ 90th Percentile (Best Layer)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Unimodal SSL</c:v>
                </c:pt>
              </c:strCache>
            </c:strRef>
          </c:tx>
          <c:spPr>
            <a:solidFill>
              <a:srgbClr val="4E7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MAE</c:v>
                  </c:pt>
                  <c:pt idx="1">
                    <c:v>SigLIP2</c:v>
                  </c:pt>
                  <c:pt idx="2">
                    <c:v>SigLIP</c:v>
                  </c:pt>
                  <c:pt idx="3">
                    <c:v>CLIP</c:v>
                  </c:pt>
                  <c:pt idx="4">
                    <c:v>DINOv2</c:v>
                  </c:pt>
                  <c:pt idx="5">
                    <c:v>ResNet50</c:v>
                  </c:pt>
                  <c:pt idx="6">
                    <c:v>DINOv3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0.037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0.082</c:v>
                </c:pt>
                <c:pt idx="5">
                  <c:v>0</c:v>
                </c:pt>
                <c:pt idx="6">
                  <c:v>0.133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Multimodal VLM</c:v>
                </c:pt>
              </c:strCache>
            </c:strRef>
          </c:tx>
          <c:spPr>
            <a:solidFill>
              <a:srgbClr val="D476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MAE</c:v>
                  </c:pt>
                  <c:pt idx="1">
                    <c:v>SigLIP2</c:v>
                  </c:pt>
                  <c:pt idx="2">
                    <c:v>SigLIP</c:v>
                  </c:pt>
                  <c:pt idx="3">
                    <c:v>CLIP</c:v>
                  </c:pt>
                  <c:pt idx="4">
                    <c:v>DINOv2</c:v>
                  </c:pt>
                  <c:pt idx="5">
                    <c:v>ResNet50</c:v>
                  </c:pt>
                  <c:pt idx="6">
                    <c:v>DINOv3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0.047</c:v>
                </c:pt>
                <c:pt idx="2">
                  <c:v>0.047</c:v>
                </c:pt>
                <c:pt idx="3">
                  <c:v>0.049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Supervised</c:v>
                </c:pt>
              </c:strCache>
            </c:strRef>
          </c:tx>
          <c:spPr>
            <a:solidFill>
              <a:srgbClr val="8A81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MAE</c:v>
                  </c:pt>
                  <c:pt idx="1">
                    <c:v>SigLIP2</c:v>
                  </c:pt>
                  <c:pt idx="2">
                    <c:v>SigLIP</c:v>
                  </c:pt>
                  <c:pt idx="3">
                    <c:v>CLIP</c:v>
                  </c:pt>
                  <c:pt idx="4">
                    <c:v>DINOv2</c:v>
                  </c:pt>
                  <c:pt idx="5">
                    <c:v>ResNet50</c:v>
                  </c:pt>
                  <c:pt idx="6">
                    <c:v>DINOv3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0.09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smondchoy/Projects/ssl_wikichurches/outputs/slides/slide01_title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D3436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73152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 Self-Supervised Vision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Models Learn What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Experts See?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B7B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Attention Alignment with Human-Annotated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3B7B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Architectural Features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17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ISY5004 — Intelligent Sensing Systems Practice Module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817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Mid-Project Progress Update — March 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E79A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SSL models achieve strong benchmarks — but what are they looking at?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E79A7"/>
                </a:solidFill>
              </a:rPr>
              <a:t>The Problem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SSL models can classify “Gothic cathedral” by attending to </a:t>
            </a:r>
            <a:pPr indent="0" marL="0">
              <a:buNone/>
            </a:pPr>
            <a:r>
              <a:rPr lang="en-US" sz="1300" b="1" dirty="0">
                <a:solidFill>
                  <a:srgbClr val="C04E4E"/>
                </a:solidFill>
              </a:rPr>
              <a:t>overcast skies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instead of </a:t>
            </a:r>
            <a:pPr indent="0" marL="0">
              <a:buNone/>
            </a:pPr>
            <a:r>
              <a:rPr lang="en-US" sz="1300" b="1" dirty="0">
                <a:solidFill>
                  <a:srgbClr val="3A7D44"/>
                </a:solidFill>
              </a:rPr>
              <a:t>pointed arches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E79A7"/>
                </a:solidFill>
              </a:rPr>
              <a:t>The Gap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• No cross-model benchmark for expert alignment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• No study on how fine-tuning shifts attention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No strategy comparison (LP vs LoRA vs Full)</a:t>
            </a:r>
            <a:endParaRPr lang="en-US" sz="1600" dirty="0"/>
          </a:p>
        </p:txBody>
      </p:sp>
      <p:pic>
        <p:nvPicPr>
          <p:cNvPr id="7" name="Image 0" descr="/Users/desmondchoy/Projects/ssl_wikichurches/outputs/slides/slide02_good_vs_b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188720"/>
            <a:ext cx="438912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38404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Same image: DINOv3 focuses on architectural features (left),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MAE attention is diffuse (right)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Three Research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Frozen Model Alignment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 SSL models attend to expert-identified diagnostic features?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IoU between attention maps and 631 expert bounding boxes across 7 models × 12 layers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141732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3A7D4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Fine-Tuning Effects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715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Does fine-tuning shift attention toward expert features? Does strategy matter?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044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Δ IoU (fine-tuned − frozen) with paired Wilcoxon tests, Holm correction, Cohen’s 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265176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3A7D44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8A817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Per-Head Specialization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3950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 individual attention heads specialize for different architectural features?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4279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Per-head IoU × feature-type matrix, rank-based head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388620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8A817C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886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Planned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Professor’s Feedback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suggestions that shaped our methodology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82296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124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Continuous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399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“Apply Gaussian filtering to bounding boxes and compare with MSE, like crowd density estimation”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MSE, KL Divergence, EMD added alongside IoU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12801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3A7D4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03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Fine-Tuning Impact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359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“Study whether SFT preserves, enhances, or destroys attention consistency”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25786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Preserve / Enhance / Destroy taxonomy applied to 6 models × 3 strategies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2402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3A7D4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71800"/>
            <a:ext cx="54864" cy="822960"/>
          </a:xfrm>
          <a:prstGeom prst="rect">
            <a:avLst/>
          </a:prstGeom>
          <a:solidFill>
            <a:srgbClr val="8A817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063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5156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Cross-Layer Aggregation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3192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“Aggregate attention from different layers (e.g. max pooling) to construct a new map”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5387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Max pooling, depth-weighted mean, ALTI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0" y="320040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8A817C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93B7B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5156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Unimodal vs Multimodal Leaderboard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" y="42793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“Compare unimodal models (DINO) and VLM vision encoders (CLIP, SigLIP)”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1560" y="44988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Paradigm grouping applied in analysis; formal dashboard split planned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98080" y="416052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93B7BE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0" y="4160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WikiChurches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Barz &amp; Denzler, NeurIPS 2021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4048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Total images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9,485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8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Annotated eval set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139 images, 631 bboxes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Styles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Romanesque, Gothic, Renaissance, Baroque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8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Feature types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106 categories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Training (Q2)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~4,588 labelled images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8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Eval holdout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A7D44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139 images (zero leakage)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Style Distribution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886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Romanesque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45920" y="3904488"/>
            <a:ext cx="2286000" cy="164592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10" name="Text 7"/>
          <p:cNvSpPr/>
          <p:nvPr/>
        </p:nvSpPr>
        <p:spPr>
          <a:xfrm>
            <a:off x="3977640" y="3886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142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Gothic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645920" y="4160520"/>
            <a:ext cx="2074333" cy="164592"/>
          </a:xfrm>
          <a:prstGeom prst="rect">
            <a:avLst/>
          </a:prstGeom>
          <a:solidFill>
            <a:srgbClr val="93B7BE"/>
          </a:solidFill>
          <a:ln/>
        </p:spPr>
      </p:sp>
      <p:sp>
        <p:nvSpPr>
          <p:cNvPr id="13" name="Text 10"/>
          <p:cNvSpPr/>
          <p:nvPr/>
        </p:nvSpPr>
        <p:spPr>
          <a:xfrm>
            <a:off x="3765973" y="4142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398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Renaissance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645920" y="4416552"/>
            <a:ext cx="931333" cy="164592"/>
          </a:xfrm>
          <a:prstGeom prst="rect">
            <a:avLst/>
          </a:prstGeom>
          <a:solidFill>
            <a:srgbClr val="D4764E"/>
          </a:solidFill>
          <a:ln/>
        </p:spPr>
      </p:sp>
      <p:sp>
        <p:nvSpPr>
          <p:cNvPr id="16" name="Text 13"/>
          <p:cNvSpPr/>
          <p:nvPr/>
        </p:nvSpPr>
        <p:spPr>
          <a:xfrm>
            <a:off x="2622973" y="43982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654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Baroque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645920" y="4672584"/>
            <a:ext cx="719667" cy="164592"/>
          </a:xfrm>
          <a:prstGeom prst="rect">
            <a:avLst/>
          </a:prstGeom>
          <a:solidFill>
            <a:srgbClr val="8A817C"/>
          </a:solidFill>
          <a:ln/>
        </p:spPr>
      </p:sp>
      <p:sp>
        <p:nvSpPr>
          <p:cNvPr id="19" name="Text 16"/>
          <p:cNvSpPr/>
          <p:nvPr/>
        </p:nvSpPr>
        <p:spPr>
          <a:xfrm>
            <a:off x="2411307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17</a:t>
            </a:r>
            <a:endParaRPr lang="en-US" sz="1000" dirty="0"/>
          </a:p>
        </p:txBody>
      </p:sp>
      <p:pic>
        <p:nvPicPr>
          <p:cNvPr id="20" name="Image 0" descr="/Users/desmondchoy/Projects/ssl_wikichurches/outputs/slides/slide04_style_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097280"/>
            <a:ext cx="42062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 Models, 4 SSL Paradigms + 1 Supervised Baseline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ViT-B architecture (12 layers, 768 dim, 12 heads, ~86M params) except ResNet-50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731520"/>
                <a:gridCol w="1188720"/>
                <a:gridCol w="164592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Model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Paradigm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Patch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Method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Key Feature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E79A7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DINOv2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Self-distillation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14×14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CLS, Rollout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 register tokens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E79A7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DINOv3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Self-distillation + Gram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16×16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CLS, Rollout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RoPE encoding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7D44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Masked Autoencoding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16×16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CLS, Rollout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Pixel reconstruction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764E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CLIP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Contrastive (softmax)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16×16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CLS, Rollout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Language-image align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764E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SigLIP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Contrastive (sigmoid)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16×16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Mean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No CLS token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764E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SigLIP 2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Contrastive (sigmoid)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16×16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Mean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Dense features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817C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ResNet-50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Supervised (ImageNet)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—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Grad-CAM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CNN baseline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Measuring Attention-Expert Alignment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Addressing Feedback #1: continuous metrics beyond IoU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/Users/desmondchoy/Projects/ssl_wikichurches/outputs/slides/slide06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859536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0632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Image Detail view: attention overlay (left), expert annotations (bboxes), layer-wise metrics (right)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Complementary Metrics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5029200" cy="146304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1005840"/>
              </a:tblGrid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Metric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Measures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Threshold?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IoU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Spatial overlap of top-k attention with expert regions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Yes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Coverage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Fraction of attention energy inside expert regions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No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Gaussian MSE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Distance from attention to Gaussian-blurred GT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No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KL Divergence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Distribution divergence vs ground truth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No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EMD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Optimal transport cost between distributions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No</a:t>
                      </a:r>
                      <a:endParaRPr lang="en-US" sz="10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3520440"/>
            <a:ext cx="30175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0" y="3611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79A7"/>
                </a:solidFill>
              </a:rPr>
              <a:t>Statistical Rigor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Paired Wilcoxon signed-rank tests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   (139 image pairs per comparison)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Holm-Bonferroni correction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Cohen’s d effect sizes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 with 95% bootstrap CIs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Q1: Frozen Model Leaderboard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Addressing Feedback #4: unimodal vs multimodal comparison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887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18872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2801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79A7"/>
                </a:solidFill>
              </a:rPr>
              <a:t>Paradigm Ranking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Unimodal self-distillation leads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</a:rPr>
              <a:t>DINOv3 (0.133) achieves 1.6× the IoU of DINOv2 (0.082). Self-distillation learns part-level segmentation.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Supervised &gt; Multimodal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</a:rPr>
              <a:t>ResNet-50 (0.090) outperforms all VLMs. Language alignment doesn’t help localisation.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VLMs cluster together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</a:rPr>
              <a:t>CLIP/SigLIP/SigLIP2 all ≈ 0.047–0.049. Contrastive objective produces similar attention patterns.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Reconstruction is worst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MAE (0.037) — pixel reconstruction ≠ object localisation.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Q2: Fine-Tuning Experiment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Addressing Feedback #2: does SFT preserve, enhance, or destroy consistency?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93B7B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B7B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Linear Probe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~3K params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Classifier head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Backbone frozen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 — attention unchanged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~300K params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Low-rank adapters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attention layers + head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Parameter-efficient; preserves pre-training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D4764E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64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Full Fine-tune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~86M params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Entire backbone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classifier head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Maximum adaptation capacity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E79A7"/>
                </a:solidFill>
              </a:rPr>
              <a:t>Training Configuration: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4-class style classification (Romanesque, Gothic, Renaissance, Baroque)  •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 epochs, batch 16  •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Cosine LR + warmup  •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Class-weighted loss  •  </a:t>
            </a:r>
            <a:pPr indent="0" marL="0">
              <a:buNone/>
            </a:pPr>
            <a:r>
              <a:rPr lang="en-US" sz="1100" b="1" dirty="0">
                <a:solidFill>
                  <a:srgbClr val="3A7D44"/>
                </a:solidFill>
              </a:rPr>
              <a:t>139 annotated images strictly excluded from training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E79A7"/>
                </a:solidFill>
              </a:rPr>
              <a:t>Measurement: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Δ IoU = IoU(fine-tuned) − IoU(frozen), per image, paired Wilcoxon tests with Holm correction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E79A7"/>
                </a:solidFill>
              </a:rPr>
              <a:t>Taxonomy:  </a:t>
            </a:r>
            <a:pPr indent="0" marL="0">
              <a:buNone/>
            </a:pPr>
            <a:r>
              <a:rPr lang="en-US" sz="1100" b="1" dirty="0">
                <a:solidFill>
                  <a:srgbClr val="3A7D44"/>
                </a:solidFill>
              </a:rPr>
              <a:t>Enhance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(Δ &gt; 0, significant)  |  </a:t>
            </a:r>
            <a:pPr indent="0" marL="0">
              <a:buNone/>
            </a:pPr>
            <a:r>
              <a:rPr lang="en-US" sz="1100" b="1" dirty="0">
                <a:solidFill>
                  <a:srgbClr val="8A817C"/>
                </a:solidFill>
              </a:rPr>
              <a:t>Preserve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(Δ ≈ 0, not significant)  |  </a:t>
            </a:r>
            <a:pPr indent="0" marL="0">
              <a:buNone/>
            </a:pPr>
            <a:r>
              <a:rPr lang="en-US" sz="1100" b="1" dirty="0">
                <a:solidFill>
                  <a:srgbClr val="C04E4E"/>
                </a:solidFill>
              </a:rPr>
              <a:t>Destroy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(Δ &lt; 0, significant)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Q2: Preserve, Enhance, or Destroy?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Applying the professor’s taxonomy to fine-tuning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/Users/desmondchoy/Projects/ssl_wikichurches/outputs/figures/03_all_metrics_diverging_b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97280"/>
            <a:ext cx="48463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0" y="1097280"/>
            <a:ext cx="36576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4960" y="11887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7D44"/>
                </a:solidFill>
              </a:rPr>
              <a:t>Enhance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Contrastive models (CLIP, SigLIP)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3A7D44"/>
                </a:solidFill>
              </a:rPr>
              <a:t>CLIP LoRA: Δ +0.063 (d=1.33)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3A7D44"/>
                </a:solidFill>
              </a:rPr>
              <a:t>SigLIP/2 Full: Δ +0.036 (d=0.78–0.94)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All 6 comparisons statistically significant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A817C"/>
                </a:solidFill>
              </a:rPr>
              <a:t>Preserve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Self-distillation &amp; reconstruction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DINOv3: Δ +0.003–0.009 (not significant)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MAE: Δ ≈ 0 across all strategies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Already aligned (DINO) or unreachable (MAE)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4E4E"/>
                </a:solidFill>
              </a:rPr>
              <a:t>Destroy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No model conclusively destroys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C04E4E"/>
                </a:solidFill>
              </a:rPr>
              <a:t>DINOv2 Full: Δ −0.003 (not significant)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Directionally concerning but not catastrophic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E79A7"/>
                </a:solidFill>
              </a:rPr>
              <a:t>LoRA ≥ Full across all models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285× fewer params, no forgetting risk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Interactive Visualization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Precompute → HDF5/SQLite/PNG cache → FastAPI (25 endpoints) → React + Vite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/Users/desmondchoy/Projects/ssl_wikichurches/outputs/slides/screenshot_gall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4023360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7889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Gallery</a:t>
            </a:r>
            <a:endParaRPr lang="en-US" sz="1000" dirty="0"/>
          </a:p>
        </p:txBody>
      </p:sp>
      <p:pic>
        <p:nvPicPr>
          <p:cNvPr id="8" name="Image 1" descr="/Users/desmondchoy/Projects/ssl_wikichurches/outputs/slides/screenshot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97280"/>
            <a:ext cx="4023360" cy="1691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7889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Dashboard</a:t>
            </a:r>
            <a:endParaRPr lang="en-US" sz="1000" dirty="0"/>
          </a:p>
        </p:txBody>
      </p:sp>
      <p:pic>
        <p:nvPicPr>
          <p:cNvPr id="10" name="Image 2" descr="/Users/desmondchoy/Projects/ssl_wikichurches/outputs/slides/screenshot_image_deta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3063240"/>
            <a:ext cx="4023360" cy="1691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" y="4754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Image Detail</a:t>
            </a:r>
            <a:endParaRPr lang="en-US" sz="1000" dirty="0"/>
          </a:p>
        </p:txBody>
      </p:sp>
      <p:pic>
        <p:nvPicPr>
          <p:cNvPr id="12" name="Image 3" descr="/Users/desmondchoy/Projects/ssl_wikichurches/outputs/slides/screenshot_compa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3063240"/>
            <a:ext cx="4023360" cy="1691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3440" y="4754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Compare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Engineering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Built for reproducibility and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8A817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WikiChurches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23444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4E79A7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234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Precompute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93B7B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234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123444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D4764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234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13716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60520" y="13716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13716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03120" y="2103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HDF5  •  SQLite  •  PNG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Vision models with unified VisionBackbone protocol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REST API endpoints across 4 routers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65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3465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Precompute scripts (attention, features, heatmaps, metrics)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9410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3941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Tracked issues via bd (beads), 48 closed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416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3444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GPU needed at runtime — all cache-served, &lt;100ms responses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0" y="2514600"/>
            <a:ext cx="28346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606040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79A7"/>
                </a:solidFill>
              </a:rPr>
              <a:t>Quality Gates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pytest test suite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mypy type checking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ruff linting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IoU quantile bias fix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   (torch.quantile → torch.topk)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Deep audit epic (#9ct)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 metrics, frontend, security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79A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Remaining Work &amp;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Addressing remaining professor feedback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79A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3A7D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#1 Metrics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3A7D44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#2 SFT Impact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93B7BE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#3 Aggregation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93B7BE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#4 Leaderboard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39319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79A7"/>
                </a:solidFill>
              </a:rPr>
              <a:t>Feedback #3: Cross-Layer Aggregation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Max pooling across 12 layers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   Pixel-wise max → comprehensive saliency map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Depth-weighted mean pooling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   Exponential decay weighting deeper (semantic) layers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ALTI (Aggregation of Layer-wise Token Interactions)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   State-of-the-art recursive aggregation (Ferrando et al., 2022)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E79A7"/>
                </a:solidFill>
              </a:rPr>
              <a:t>Q3: Per-Head Specialization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Per-head IoU × feature-type matrix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Head ranking by alignment consistency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Voita et al. (2019), Caron et al. (2021)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8288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79A7"/>
                </a:solidFill>
              </a:rPr>
              <a:t>Feedback #4: Paradigm-Split Leaderboard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Formal unimodal vs multimodal grouping in dashboard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Sub-group averages for IoU, MSE, Coverage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• Potentially add SAM (Segment Anything) encoder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Text-prompted evaluation for VLMs (CLIP, SigLIP)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5661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Other Open Items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• Attention shift diff-map visualization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• Fine-tuning training loop test coverage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Feature-specific forgetting analysis (per architectural element)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3B7BE"/>
                </a:solidFill>
              </a:rPr>
              <a:t>Feedback #1 — Continuous Metrics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5 complementary metrics implemented (IoU + Coverage + MSE + KL + EMD). Threshold-free metrics reveal patterns IoU alone misses.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3B7BE"/>
                </a:solidFill>
              </a:rPr>
              <a:t>Feedback #2 — Preserve / Enhance / Destroy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Contrastive models Enhance; self-distillation Preserves; no model Destroys. LoRA is the safest strategy with 285× fewer parameters.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3B7BE"/>
                </a:solidFill>
              </a:rPr>
              <a:t>Feedback #4 — Unimodal vs Multimodal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Unimodal self-distillation &gt; supervised &gt; multimodal. Language alignment does not improve localisation of architectural features.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4764E"/>
                </a:solidFill>
              </a:rPr>
              <a:t>Next Steps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Feedback #3 (cross-layer aggregation) + Q3 (per-head specialisation) + feedback #4 (formal dashboard split, SAM).</a:t>
            </a:r>
            <a:endParaRPr lang="en-US" sz="1300" dirty="0"/>
          </a:p>
        </p:txBody>
      </p:sp>
      <p:pic>
        <p:nvPicPr>
          <p:cNvPr id="4" name="Image 0" descr="/Users/desmondchoy/Projects/ssl_wikichurches/outputs/slides/slide13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274320"/>
            <a:ext cx="42062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4434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Frozen IoU vs Δ IoU: pre-training determines alignment &amp; plasticity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E79A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SSL Attention Alignment - Mid-Project Progress Update</dc:title>
  <dc:subject>PptxGenJS Presentation</dc:subject>
  <dc:creator>SSL WikiChurches Team</dc:creator>
  <cp:lastModifiedBy>SSL WikiChurches Team</cp:lastModifiedBy>
  <cp:revision>1</cp:revision>
  <dcterms:created xsi:type="dcterms:W3CDTF">2026-03-22T08:20:26Z</dcterms:created>
  <dcterms:modified xsi:type="dcterms:W3CDTF">2026-03-22T08:20:26Z</dcterms:modified>
</cp:coreProperties>
</file>