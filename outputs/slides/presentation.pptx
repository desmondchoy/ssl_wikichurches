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33333"/>
                </a:solidFill>
                <a:latin typeface="Arial"/>
              </a:rPr>
              <a:t>Frozen IoU @ 90th Percentile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IoU @ 90th %ile</c:v>
                </c:pt>
              </c:strCache>
            </c:strRef>
          </c:tx>
          <c:spPr>
            <a:solidFill>
              <a:srgbClr val="4E79A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DINOv3</c:v>
                  </c:pt>
                  <c:pt idx="1">
                    <c:v>ResNet50</c:v>
                  </c:pt>
                  <c:pt idx="2">
                    <c:v>DINOv2</c:v>
                  </c:pt>
                  <c:pt idx="3">
                    <c:v>CLIP</c:v>
                  </c:pt>
                  <c:pt idx="4">
                    <c:v>SigLIP</c:v>
                  </c:pt>
                  <c:pt idx="5">
                    <c:v>SigLIP2</c:v>
                  </c:pt>
                  <c:pt idx="6">
                    <c:v>MAE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0.133</c:v>
                </c:pt>
                <c:pt idx="1">
                  <c:v>0.09</c:v>
                </c:pt>
                <c:pt idx="2">
                  <c:v>0.082</c:v>
                </c:pt>
                <c:pt idx="3">
                  <c:v>0.049</c:v>
                </c:pt>
                <c:pt idx="4">
                  <c:v>0.047</c:v>
                </c:pt>
                <c:pt idx="5">
                  <c:v>0.047</c:v>
                </c:pt>
                <c:pt idx="6">
                  <c:v>0.037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3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esmondchoy/Projects/ssl_wikichurches/outputs/slides/slide01_title_he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2D3436">
              <a:alpha val="6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73152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Self-Supervised Vision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Learn What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Experts See?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B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Alignment with Human-Annotated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3B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Features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1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ISY5004 — Intelligent Sensing Systems Practice Module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A81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Mid-Project Progress Update — March 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4E79A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 models achieve strong benchmarks — but what are they looking at?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79A7"/>
                </a:solidFill>
              </a:rPr>
              <a:t>The Problem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SSL models can classify “Gothic cathedral” by attending to </a:t>
            </a:r>
            <a:pPr indent="0" marL="0">
              <a:buNone/>
            </a:pPr>
            <a:r>
              <a:rPr lang="en-US" sz="1300" b="1" dirty="0">
                <a:solidFill>
                  <a:srgbClr val="C04E4E"/>
                </a:solidFill>
              </a:rPr>
              <a:t>overcast skies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 instead of </a:t>
            </a:r>
            <a:pPr indent="0" marL="0">
              <a:buNone/>
            </a:pPr>
            <a:r>
              <a:rPr lang="en-US" sz="1300" b="1" dirty="0">
                <a:solidFill>
                  <a:srgbClr val="3A7D44"/>
                </a:solidFill>
              </a:rPr>
              <a:t>pointed arches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4E79A7"/>
                </a:solidFill>
              </a:rPr>
              <a:t>The Gap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• No cross-model benchmark for expert alignment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• No study on how fine-tuning shifts attention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• No strategy comparison (LP vs LoRA vs Full)</a:t>
            </a:r>
            <a:endParaRPr lang="en-US" sz="1600" dirty="0"/>
          </a:p>
        </p:txBody>
      </p:sp>
      <p:pic>
        <p:nvPicPr>
          <p:cNvPr id="7" name="Image 0" descr="/Users/desmondchoy/Projects/ssl_wikichurches/outputs/slides/slide02_good_vs_b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480560" y="1188720"/>
            <a:ext cx="4389120" cy="2560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48056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image: DINOv3 focuses on architectural features (left),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attention is diffuse (right)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Research Questions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1097280"/>
          </a:xfrm>
          <a:prstGeom prst="roundedRectangle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CCCCCC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3A7D44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234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188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Model Alignment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14813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SSL models attend to expert-identified diagnostic features?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105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between attention maps and 631 expert bounding boxes across 7 models × 12 layers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498080" y="1417320"/>
            <a:ext cx="1005840" cy="365760"/>
          </a:xfrm>
          <a:prstGeom prst="roundedRectangle">
            <a:avLst>
              <a:gd name="adj" fmla="val 12500"/>
            </a:avLst>
          </a:prstGeom>
          <a:solidFill>
            <a:srgbClr val="3A7D44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0" y="14173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8229600" cy="1097280"/>
          </a:xfrm>
          <a:prstGeom prst="roundedRectangle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CCCCCC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31720"/>
            <a:ext cx="73152" cy="1097280"/>
          </a:xfrm>
          <a:prstGeom prst="rect">
            <a:avLst/>
          </a:prstGeom>
          <a:solidFill>
            <a:srgbClr val="3A7D44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4688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280160" y="2423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Effects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2715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fine-tuning shift attention toward expert features? Does strategy matter?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3044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IoU (fine-tuned − frozen) with paired Wilcoxon tests, Holm correction, Cohen’s 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498080" y="2651760"/>
            <a:ext cx="1005840" cy="365760"/>
          </a:xfrm>
          <a:prstGeom prst="roundedRectangle">
            <a:avLst>
              <a:gd name="adj" fmla="val 12500"/>
            </a:avLst>
          </a:prstGeom>
          <a:solidFill>
            <a:srgbClr val="3A7D44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0" y="26517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566160"/>
            <a:ext cx="8229600" cy="1097280"/>
          </a:xfrm>
          <a:prstGeom prst="roundedRectangle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CCCCCC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566160"/>
            <a:ext cx="73152" cy="1097280"/>
          </a:xfrm>
          <a:prstGeom prst="rect">
            <a:avLst/>
          </a:prstGeom>
          <a:solidFill>
            <a:srgbClr val="8A817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28016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Per-Head Specialization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80160" y="39502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individual attention heads specialize for different architectural features?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80160" y="42793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Per-head IoU × feature-type matrix, rank-based head analysis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98080" y="3886200"/>
            <a:ext cx="1005840" cy="365760"/>
          </a:xfrm>
          <a:prstGeom prst="roundedRectangle">
            <a:avLst>
              <a:gd name="adj" fmla="val 12500"/>
            </a:avLst>
          </a:prstGeom>
          <a:solidFill>
            <a:srgbClr val="8A817C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WikiChurches Dataset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Barz &amp; Denzler, NeurIPS 2021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3840480" cy="22860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</a:tblGrid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images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8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Annotated eval 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 images, 631 bboxes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Romanesque, Gothic, Renaissance, Baroque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8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types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 categories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(Q2)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~4,588 labelled images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8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holdout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A7D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 images (zero leakage)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566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Distribution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8862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Romanesque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645920" y="3904488"/>
            <a:ext cx="2286000" cy="164592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10" name="Text 7"/>
          <p:cNvSpPr/>
          <p:nvPr/>
        </p:nvSpPr>
        <p:spPr>
          <a:xfrm>
            <a:off x="3977640" y="38862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41422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Gothic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645920" y="4160520"/>
            <a:ext cx="2074333" cy="164592"/>
          </a:xfrm>
          <a:prstGeom prst="rect">
            <a:avLst/>
          </a:prstGeom>
          <a:solidFill>
            <a:srgbClr val="93B7BE"/>
          </a:solidFill>
          <a:ln/>
        </p:spPr>
      </p:sp>
      <p:sp>
        <p:nvSpPr>
          <p:cNvPr id="13" name="Text 10"/>
          <p:cNvSpPr/>
          <p:nvPr/>
        </p:nvSpPr>
        <p:spPr>
          <a:xfrm>
            <a:off x="3765973" y="41422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43982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Renaissance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1645920" y="4416552"/>
            <a:ext cx="931333" cy="164592"/>
          </a:xfrm>
          <a:prstGeom prst="rect">
            <a:avLst/>
          </a:prstGeom>
          <a:solidFill>
            <a:srgbClr val="D4764E"/>
          </a:solidFill>
          <a:ln/>
        </p:spPr>
      </p:sp>
      <p:sp>
        <p:nvSpPr>
          <p:cNvPr id="16" name="Text 13"/>
          <p:cNvSpPr/>
          <p:nvPr/>
        </p:nvSpPr>
        <p:spPr>
          <a:xfrm>
            <a:off x="2622973" y="439826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57200" y="465429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Baroque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645920" y="4672584"/>
            <a:ext cx="719667" cy="164592"/>
          </a:xfrm>
          <a:prstGeom prst="rect">
            <a:avLst/>
          </a:prstGeom>
          <a:solidFill>
            <a:srgbClr val="8A817C"/>
          </a:solidFill>
          <a:ln/>
        </p:spPr>
      </p:sp>
      <p:sp>
        <p:nvSpPr>
          <p:cNvPr id="19" name="Text 16"/>
          <p:cNvSpPr/>
          <p:nvPr/>
        </p:nvSpPr>
        <p:spPr>
          <a:xfrm>
            <a:off x="2411307" y="46542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20" name="Image 0" descr="/Users/desmondchoy/Projects/ssl_wikichurches/outputs/slides/slide04_style_gri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1097280"/>
            <a:ext cx="420624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Models, 4 SSL Paradigms + 1 Supervised Baseline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ViT-B architecture (12 layers, 768 dim, 12 heads, ~86M params) except ResNet-50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3474720"/>
        </p:xfrm>
        <a:graphic>
          <a:graphicData uri="http://schemas.openxmlformats.org/drawingml/2006/table">
            <a:tbl>
              <a:tblPr/>
              <a:tblGrid>
                <a:gridCol w="1097280"/>
                <a:gridCol w="2011680"/>
                <a:gridCol w="731520"/>
                <a:gridCol w="1188720"/>
                <a:gridCol w="1645920"/>
              </a:tblGrid>
              <a:tr h="4343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Paradigm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79A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E79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Self-distillation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14×14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CLS, Rollout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register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E79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Self-distillation + Gram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16×16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CLS, Rollout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RoPE encoding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A7D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Masked Autoencoding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16×16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CLS, Rollout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reconstruction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476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Contrastive (softmax)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16×16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CLS, Rollout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Language-image align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476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Contrastive (sigmoid)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16×16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CLS token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476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Contrastive (sigmoid)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16×16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features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81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ResNet-50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Supervised (ImageNet)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Grad-CAM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Attention-Expert Alignment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attention map to alignment score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Users/desmondchoy/Projects/ssl_wikichurches/outputs/slides/slide06_pip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97280"/>
            <a:ext cx="8595360" cy="2011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200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Complementary Metrics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5029200" cy="146304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  <a:gridCol w="1005840"/>
              </a:tblGrid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79A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Spatial overlap of top-k attention with expert regions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 of attention energy inside expert regions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 MSE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from attention to Gaussian-blurred GT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 Divergence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divergence vs ground truth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 cost between distributions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3520440"/>
            <a:ext cx="3017520" cy="1463040"/>
          </a:xfrm>
          <a:prstGeom prst="roundedRectangle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CCCCCC">
                <a:alpha val="3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5943600" y="36118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79A7"/>
                </a:solidFill>
              </a:rPr>
              <a:t>Statistical Rigor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• Paired Wilcoxon signed-rank tests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64748B"/>
                </a:solidFill>
              </a:rPr>
              <a:t>   (139 image pairs per comparison)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• Holm-Bonferroni correction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• Cohen’s d effect sizes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   with 95% bootstrap CIs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Q1: Frozen Model Leaderboard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SSL paradigm best aligns with expert perception?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188720"/>
          <a:ext cx="4114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4754880" y="1188720"/>
            <a:ext cx="4023360" cy="3200400"/>
          </a:xfrm>
          <a:prstGeom prst="roundedRectangle">
            <a:avLst>
              <a:gd name="adj" fmla="val 1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CCCCCC">
                <a:alpha val="3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937760" y="128016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E79A7"/>
                </a:solidFill>
              </a:rPr>
              <a:t>Key Findings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Self-distillation dominates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64748B"/>
                </a:solidFill>
              </a:rPr>
              <a:t>DINOv3 achieves 1.6× the IoU of its nearest SSL competitor (DINOv2)</a:t>
            </a:r>
            <a:endParaRPr lang="en-US" sz="1500" dirty="0"/>
          </a:p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Supervised ResNet-50 ranks #2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64748B"/>
                </a:solidFill>
              </a:rPr>
              <a:t>ImageNet labels provide strong localization even without transformer attention</a:t>
            </a:r>
            <a:endParaRPr lang="en-US" sz="1500" dirty="0"/>
          </a:p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CLIP peaks at layer 0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64748B"/>
                </a:solidFill>
              </a:rPr>
              <a:t>Language-image alignment pushes semantic attention to early layers</a:t>
            </a:r>
            <a:endParaRPr lang="en-US" sz="1500" dirty="0"/>
          </a:p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MAE lowest alignment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Pixel reconstruction ≠ object localization; attention is diffuse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Q2: Fine-Tuning Experiment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task-specific training shift attention toward expert features?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651760" cy="2103120"/>
          </a:xfrm>
          <a:prstGeom prst="roundedRectangle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CCCCC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88720"/>
            <a:ext cx="2651760" cy="54864"/>
          </a:xfrm>
          <a:prstGeom prst="rect">
            <a:avLst/>
          </a:prstGeom>
          <a:solidFill>
            <a:srgbClr val="93B7BE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325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B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Probe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16459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~3K params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" y="1965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head only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frozen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attention unchanged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188720"/>
            <a:ext cx="2651760" cy="2103120"/>
          </a:xfrm>
          <a:prstGeom prst="roundedRectangle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CCCCCC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188720"/>
            <a:ext cx="2651760" cy="54864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325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29000" y="16459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~300K params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29000" y="1965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Low-rank adapters 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layers + head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29000" y="2560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Parameter-efficient; preserves pre-training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26480" y="1188720"/>
            <a:ext cx="2651760" cy="2103120"/>
          </a:xfrm>
          <a:prstGeom prst="roundedRectangle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CCCCCC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1188720"/>
            <a:ext cx="2651760" cy="54864"/>
          </a:xfrm>
          <a:prstGeom prst="rect">
            <a:avLst/>
          </a:prstGeom>
          <a:solidFill>
            <a:srgbClr val="D4764E"/>
          </a:solidFill>
          <a:ln/>
        </p:spPr>
      </p:sp>
      <p:sp>
        <p:nvSpPr>
          <p:cNvPr id="20" name="Text 18"/>
          <p:cNvSpPr/>
          <p:nvPr/>
        </p:nvSpPr>
        <p:spPr>
          <a:xfrm>
            <a:off x="6263640" y="1325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7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Fine-tune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63640" y="16459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~86M params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263640" y="1965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backbone +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head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63640" y="2560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adaptation capacity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520440"/>
            <a:ext cx="8229600" cy="1188720"/>
          </a:xfrm>
          <a:prstGeom prst="roundedRectangle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611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E79A7"/>
                </a:solidFill>
              </a:rPr>
              <a:t>Training Configuration: 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4-class style classification (Romanesque, Gothic, Renaissance, Baroque)  • 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3 epochs, batch 16  • 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Cosine LR + warmup  • 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Class-weighted loss  •  </a:t>
            </a:r>
            <a:pPr indent="0" marL="0">
              <a:buNone/>
            </a:pPr>
            <a:r>
              <a:rPr lang="en-US" sz="1100" b="1" dirty="0">
                <a:solidFill>
                  <a:srgbClr val="3A7D44"/>
                </a:solidFill>
              </a:rPr>
              <a:t>139 annotated images strictly excluded from training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Measurement:  Δ IoU = IoU(fine-tuned) − IoU(frozen), per image, paired Wilcoxon signed-rank tests with Holm correction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Q2: Fine-Tuning Shifts Attention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only for models with room to improve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6" name="Image 0" descr="/Users/desmondchoy/Projects/ssl_wikichurches/outputs/figures/03_all_metrics_diverging_ba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1097280"/>
            <a:ext cx="502920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94960" y="1097280"/>
            <a:ext cx="3474720" cy="3657600"/>
          </a:xfrm>
          <a:prstGeom prst="roundedRectangle">
            <a:avLst>
              <a:gd name="adj" fmla="val 15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CCCCCC">
                <a:alpha val="3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577840" y="118872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E79A7"/>
                </a:solidFill>
              </a:rPr>
              <a:t>Key Takeaways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1. Contrastive models improve most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3A7D44"/>
                </a:solidFill>
              </a:rPr>
              <a:t>CLIP LoRA: Δ IoU +0.063 (d=1.33)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7D44"/>
                </a:solidFill>
              </a:rPr>
              <a:t>SigLIP Full: Δ IoU +0.036 (d=0.78)</a:t>
            </a: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2. DINO: ceiling effect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Already well-aligned → Δ ≈ 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04E4E"/>
                </a:solidFill>
              </a:rPr>
              <a:t>Full FT risks regression (DINOv2: -0.003)</a:t>
            </a: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3. LoRA ≥ Full for attention shift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CLIP LoRA (+0.063) &gt; Full (+0.041)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4748B"/>
                </a:solidFill>
              </a:rPr>
              <a:t>285× fewer parameters, no forgetting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Best validation accuracies: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DINOv3 LoRA: 91.2% • CLIP Full: 89.6%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SigLIP Full: 88.0% • MAE Full: 75.2%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Interactive Visualization Platform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Precompute → HDF5/SQLite/PNG cache → FastAPI (25 endpoints) → React + Vite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6" name="Image 0" descr="/Users/desmondchoy/Projects/ssl_wikichurches/outputs/slides/screenshot_galle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4023360" cy="1691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788920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000" dirty="0"/>
          </a:p>
        </p:txBody>
      </p:sp>
      <p:pic>
        <p:nvPicPr>
          <p:cNvPr id="8" name="Image 1" descr="/Users/desmondchoy/Projects/ssl_wikichurches/outputs/slides/screenshot_dashboar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097280"/>
            <a:ext cx="4023360" cy="1691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63440" y="2788920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pic>
        <p:nvPicPr>
          <p:cNvPr id="10" name="Image 2" descr="/Users/desmondchoy/Projects/ssl_wikichurches/outputs/slides/screenshot_image_detail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5760" y="3063240"/>
            <a:ext cx="4023360" cy="16916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65760" y="4754880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Detail</a:t>
            </a:r>
            <a:endParaRPr lang="en-US" sz="1000" dirty="0"/>
          </a:p>
        </p:txBody>
      </p:sp>
      <p:pic>
        <p:nvPicPr>
          <p:cNvPr id="12" name="Image 3" descr="/Users/desmondchoy/Projects/ssl_wikichurches/outputs/slides/screenshot_compar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3063240"/>
            <a:ext cx="4023360" cy="169164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663440" y="4754880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Highlights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reproducibility and scale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1554480" cy="822960"/>
          </a:xfrm>
          <a:prstGeom prst="roundedRectangle">
            <a:avLst>
              <a:gd name="adj" fmla="val 6667"/>
            </a:avLst>
          </a:prstGeom>
          <a:solidFill>
            <a:srgbClr val="8A817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234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WikiChurches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03120" y="1234440"/>
            <a:ext cx="1554480" cy="822960"/>
          </a:xfrm>
          <a:prstGeom prst="roundedRectangle">
            <a:avLst>
              <a:gd name="adj" fmla="val 6667"/>
            </a:avLst>
          </a:prstGeom>
          <a:solidFill>
            <a:srgbClr val="4E79A7"/>
          </a:solidFill>
          <a:ln/>
        </p:spPr>
      </p:sp>
      <p:sp>
        <p:nvSpPr>
          <p:cNvPr id="9" name="Text 7"/>
          <p:cNvSpPr/>
          <p:nvPr/>
        </p:nvSpPr>
        <p:spPr>
          <a:xfrm>
            <a:off x="2103120" y="1234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Precompute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1234440"/>
            <a:ext cx="1554480" cy="822960"/>
          </a:xfrm>
          <a:prstGeom prst="roundedRectangle">
            <a:avLst>
              <a:gd name="adj" fmla="val 6667"/>
            </a:avLst>
          </a:prstGeom>
          <a:solidFill>
            <a:srgbClr val="93B7BE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1234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75120" y="1234440"/>
            <a:ext cx="1554480" cy="822960"/>
          </a:xfrm>
          <a:prstGeom prst="roundedRectangle">
            <a:avLst>
              <a:gd name="adj" fmla="val 6667"/>
            </a:avLst>
          </a:prstGeom>
          <a:solidFill>
            <a:srgbClr val="D4764E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0" y="1234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74520" y="14173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▶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0" y="14173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▶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14173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03120" y="21031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HDF5  •  SQLite  •  PNG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25146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models with unified VisionBackbone protocol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29900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234440" y="2990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endpoints across 4 routers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34655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23444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Precompute scripts (attention, features, heatmaps, metrics)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394106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234440" y="39410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issues via bd (beads), 48 closed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44165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234440" y="4416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needed at runtime — all cache-served, &lt;100ms responses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943600" y="2514600"/>
            <a:ext cx="2834640" cy="2148840"/>
          </a:xfrm>
          <a:prstGeom prst="roundedRectangle">
            <a:avLst>
              <a:gd name="adj" fmla="val 25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CCCCCC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126480" y="260604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79A7"/>
                </a:solidFill>
              </a:rPr>
              <a:t>Quality Gates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• pytest test suite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• mypy type checking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• ruff linting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IoU quantile bias fix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4748B"/>
                </a:solidFill>
              </a:rPr>
              <a:t>   (torch.quantile → torch.topk)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Deep audit epic (#9ct)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   metrics, frontend, security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7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Remaining Work &amp; Roadmap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4E79A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8229600" cy="36576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2560320" cy="457200"/>
          </a:xfrm>
          <a:prstGeom prst="roundedRectangle">
            <a:avLst>
              <a:gd name="adj" fmla="val 10000"/>
            </a:avLst>
          </a:prstGeom>
          <a:solidFill>
            <a:srgbClr val="3A7D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Alignment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280160"/>
            <a:ext cx="2560320" cy="457200"/>
          </a:xfrm>
          <a:prstGeom prst="roundedRectangle">
            <a:avLst>
              <a:gd name="adj" fmla="val 10000"/>
            </a:avLst>
          </a:prstGeom>
          <a:solidFill>
            <a:srgbClr val="3A7D44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280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Effects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0" y="18745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0" y="1280160"/>
            <a:ext cx="2743200" cy="457200"/>
          </a:xfrm>
          <a:prstGeom prst="roundedRectangle">
            <a:avLst>
              <a:gd name="adj" fmla="val 10000"/>
            </a:avLst>
          </a:prstGeom>
          <a:solidFill>
            <a:srgbClr val="93B7BE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Per-Head Analysis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1874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377440"/>
            <a:ext cx="5029200" cy="2286000"/>
          </a:xfrm>
          <a:prstGeom prst="roundedRectangle">
            <a:avLst>
              <a:gd name="adj" fmla="val 2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CCCCCC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246888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E79A7"/>
                </a:solidFill>
              </a:rPr>
              <a:t>Q3: Per-Head Attention Specialization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64748B"/>
                </a:solidFill>
              </a:rPr>
              <a:t>(Primary remaining work)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• Compute IoU for each of 12 attention heads individually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• Build head × feature-type matrix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64748B"/>
                </a:solidFill>
              </a:rPr>
              <a:t>   Do specific heads specialize for windows, arches, buttresses?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• Rank heads by alignment consistency across images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• Academic grounding: Voita et al. (2019), Caron et al. (2021)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760720" y="2377440"/>
            <a:ext cx="3017520" cy="2286000"/>
          </a:xfrm>
          <a:prstGeom prst="roundedRectangle">
            <a:avLst>
              <a:gd name="adj" fmla="val 240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468880"/>
            <a:ext cx="2651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E79A7"/>
                </a:solidFill>
              </a:rPr>
              <a:t>Open Items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• Attention shift diff-map viz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• Fine-tuning test coverage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• Dashboard chart axis scaling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D4764E"/>
                </a:solidFill>
              </a:rPr>
              <a:t>Stretch Goals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</a:rPr>
              <a:t>• Attention-supervised fine-tuning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COIN / core-tuning methods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3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4114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3B7BE"/>
                </a:solidFill>
              </a:rPr>
              <a:t>Q1 — Frozen Alignment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Self-distillation (DINO) produces the most expert-aligned attention. DINOv3 leads at IoU = 0.133, 1.6× its nearest SSL rival.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93B7BE"/>
                </a:solidFill>
              </a:rPr>
              <a:t>Q2 — Fine-Tuning Effects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LoRA is the best strategy: equal or greater attention shift than full fine-tuning with 285× fewer parameters and no catastrophic forgetting.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4764E"/>
                </a:solidFill>
              </a:rPr>
              <a:t>The Bigger Picture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High classification accuracy ≠ expert-aligned attention. This framework generalises to any domain with expert annotations.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1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Q3 per-head specialization analysis → final presentation</a:t>
            </a:r>
            <a:endParaRPr lang="en-US" sz="1200" dirty="0"/>
          </a:p>
        </p:txBody>
      </p:sp>
      <p:pic>
        <p:nvPicPr>
          <p:cNvPr id="5" name="Image 0" descr="/Users/desmondchoy/Projects/ssl_wikichurches/outputs/slides/slide13_scat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274320"/>
            <a:ext cx="42062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54880" y="443484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IoU vs Δ IoU: pre-training determines alignment &amp; plasticity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4E79A7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SSL Attention Alignment - Mid-Project Progress Update</dc:title>
  <dc:subject>PptxGenJS Presentation</dc:subject>
  <dc:creator>SSL WikiChurches Team</dc:creator>
  <cp:lastModifiedBy>SSL WikiChurches Team</cp:lastModifiedBy>
  <cp:revision>1</cp:revision>
  <dcterms:created xsi:type="dcterms:W3CDTF">2026-03-21T13:32:50Z</dcterms:created>
  <dcterms:modified xsi:type="dcterms:W3CDTF">2026-03-21T13:32:50Z</dcterms:modified>
</cp:coreProperties>
</file>