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9144000" cy="5143500"/>
  <p:notesSz cx="5143500" cy="9144000"/>
  <p:embeddedFontLst>
    <p:embeddedFont>
      <p:font typeface="Platypi Medium"/>
      <p:regular r:id="rId42"/>
    </p:embeddedFont>
    <p:embeddedFont>
      <p:font typeface="Platypi Medium"/>
      <p:regular r:id="rId43"/>
    </p:embeddedFont>
    <p:embeddedFont>
      <p:font typeface="Platypi Medium"/>
      <p:regular r:id="rId44"/>
    </p:embeddedFont>
    <p:embeddedFont>
      <p:font typeface="Platypi Medium"/>
      <p:regular r:id="rId45"/>
    </p:embeddedFont>
    <p:embeddedFont>
      <p:font typeface="Source Serif 4"/>
      <p:regular r:id="rId46"/>
    </p:embeddedFont>
    <p:embeddedFont>
      <p:font typeface="Source Serif 4"/>
      <p:regular r:id="rId4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Relationship Id="rId42" Type="http://schemas.openxmlformats.org/officeDocument/2006/relationships/font" Target="fonts/font1.fntdata"/><Relationship Id="rId43" Type="http://schemas.openxmlformats.org/officeDocument/2006/relationships/font" Target="fonts/font2.fntdata"/><Relationship Id="rId44" Type="http://schemas.openxmlformats.org/officeDocument/2006/relationships/font" Target="fonts/font3.fntdata"/><Relationship Id="rId45" Type="http://schemas.openxmlformats.org/officeDocument/2006/relationships/font" Target="fonts/font4.fntdata"/><Relationship Id="rId46" Type="http://schemas.openxmlformats.org/officeDocument/2006/relationships/font" Target="fonts/font5.fntdata"/><Relationship Id="rId4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Self-supervised vision models achieve strong downstream accuracy — but accuracy alone tells us nothing about where in the image the model is looking.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Strengths:
Strong gains for MAE, CLIP, SigLIP family. Fine-tuning boosts text-image alignment and sparse representations.
Weaknesses:
DINO models shows near-zero or rare negative change. Limited fine-tuning effect for models liek SigLIP, as compared to CLIP.
Opportunities:
Combined diverse models and strategies like LoRA for optimal multimodal robustness. Maximises sparse modeling beenfits.
Threats:
Over-reliance on few fine-tuned models can cause bias, and negative gains in some metrics risk degradation. Hence multi-metric is helpful. Fine-tuning can be complex.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3F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slideLayout" Target="../slideLayouts/slideLayout12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5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7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2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25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slideLayout" Target="../slideLayouts/slideLayout27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28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29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30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4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496119" y="1723727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Do Self-Supervised Vision Models Learn What Experts See?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496119" y="2684859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Attention Alignment with Human-Annotated Architectural Features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96119" y="3022848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ISY5004 Intelligent Sensing Systems Practice Project</a:t>
            </a:r>
            <a:endParaRPr lang="en-US" sz="9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Team: Desmond Choy, Leong Kay Mei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7336" y="280243"/>
            <a:ext cx="2831455" cy="296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Core Question</a:t>
            </a:r>
            <a:endParaRPr lang="en-US" sz="1850" dirty="0"/>
          </a:p>
        </p:txBody>
      </p:sp>
      <p:sp>
        <p:nvSpPr>
          <p:cNvPr id="3" name="Shape 1"/>
          <p:cNvSpPr/>
          <p:nvPr/>
        </p:nvSpPr>
        <p:spPr>
          <a:xfrm>
            <a:off x="758949" y="686023"/>
            <a:ext cx="4151561" cy="1216819"/>
          </a:xfrm>
          <a:prstGeom prst="roundRect">
            <a:avLst>
              <a:gd name="adj" fmla="val 1171"/>
            </a:avLst>
          </a:prstGeom>
          <a:solidFill>
            <a:srgbClr val="F3E3D8"/>
          </a:solidFill>
          <a:ln/>
        </p:spPr>
      </p:sp>
      <p:sp>
        <p:nvSpPr>
          <p:cNvPr id="4" name="Text 2"/>
          <p:cNvSpPr/>
          <p:nvPr/>
        </p:nvSpPr>
        <p:spPr>
          <a:xfrm>
            <a:off x="853901" y="758726"/>
            <a:ext cx="16443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853901" y="979736"/>
            <a:ext cx="4418856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model predicts "Romanesque" correctly. But is it looking at the right thing?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853901" y="1195611"/>
            <a:ext cx="3961656" cy="343421"/>
          </a:xfrm>
          <a:prstGeom prst="roundRect">
            <a:avLst>
              <a:gd name="adj" fmla="val 4148"/>
            </a:avLst>
          </a:prstGeom>
          <a:solidFill>
            <a:srgbClr val="FCF2B5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854" y="1331193"/>
            <a:ext cx="118690" cy="949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2496" y="1292051"/>
            <a:ext cx="4015308" cy="134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Accuracy ≠ Correct Visual Reasoning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5078611" y="758726"/>
            <a:ext cx="1805657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We're Comparing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078611" y="988814"/>
            <a:ext cx="1584945" cy="832247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183088" y="1093291"/>
            <a:ext cx="16443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Expert View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183088" y="1314301"/>
            <a:ext cx="1375990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Human-annotated bounding boxes on diagnostic architectural features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736259" y="988814"/>
            <a:ext cx="1585020" cy="832247"/>
          </a:xfrm>
          <a:prstGeom prst="roundRect">
            <a:avLst>
              <a:gd name="adj" fmla="val 1712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40736" y="1093291"/>
            <a:ext cx="1644328" cy="1483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 View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840736" y="1314301"/>
            <a:ext cx="1376065" cy="4022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Raw attention heatmaps from self-supervised vision transformers</a:t>
            </a:r>
            <a:endParaRPr lang="en-US" sz="7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959" y="2066404"/>
            <a:ext cx="2707481" cy="2696989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4095" y="2066404"/>
            <a:ext cx="2725564" cy="271499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74079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We Studied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67519" y="1071637"/>
            <a:ext cx="2842468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139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580281" y="1474738"/>
            <a:ext cx="221686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Annotated Church Images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1743001"/>
            <a:ext cx="261386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Held-out evaluation set, strictly excluded from training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036391" y="1071637"/>
            <a:ext cx="28425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631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3452515" y="1474738"/>
            <a:ext cx="201022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Expert Bounding Boxes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36391" y="1743001"/>
            <a:ext cx="284254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Across 106 architectural feature types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805339" y="1071637"/>
            <a:ext cx="28425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7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337027" y="1474738"/>
            <a:ext cx="17791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Vision Models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3939" y="1743001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Across 4 SSL paradigms plus supervised baseline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651918" y="2449934"/>
            <a:ext cx="28425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5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2183606" y="2853035"/>
            <a:ext cx="17791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Alignment Metrics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80518" y="3121298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Across binary and continuous ground truth types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20865" y="2449934"/>
            <a:ext cx="2842543" cy="248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19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952554" y="2853035"/>
            <a:ext cx="17791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49465" y="3121298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Frozen alignment, fine-tuning effects, head specialisation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6119" y="3657749"/>
            <a:ext cx="2634555" cy="1111597"/>
          </a:xfrm>
          <a:prstGeom prst="roundRect">
            <a:avLst>
              <a:gd name="adj" fmla="val 26782"/>
            </a:avLst>
          </a:prstGeom>
          <a:solidFill>
            <a:srgbClr val="F3E3D8">
              <a:alpha val="5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20092" y="378172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0092" y="4049985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 frozen SSL models attend to the same regions experts mark as diagnostically important?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54648" y="3657749"/>
            <a:ext cx="2634630" cy="1111597"/>
          </a:xfrm>
          <a:prstGeom prst="roundRect">
            <a:avLst>
              <a:gd name="adj" fmla="val 26782"/>
            </a:avLst>
          </a:prstGeom>
          <a:solidFill>
            <a:srgbClr val="F3E3D8">
              <a:alpha val="50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3378622" y="378172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Q2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78622" y="4049985"/>
            <a:ext cx="23866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Does fine-tuning shift attention toward those regions, and does the strategy matter?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13252" y="3657749"/>
            <a:ext cx="2634555" cy="1111597"/>
          </a:xfrm>
          <a:prstGeom prst="roundRect">
            <a:avLst>
              <a:gd name="adj" fmla="val 26782"/>
            </a:avLst>
          </a:prstGeom>
          <a:solidFill>
            <a:srgbClr val="F3E3D8">
              <a:alpha val="5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37225" y="3781723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Q3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37225" y="4049985"/>
            <a:ext cx="2386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 individual attention heads specialise for different architectural features?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83059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Headline Findings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18630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What we found — before the details: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756618"/>
            <a:ext cx="2634555" cy="2603822"/>
          </a:xfrm>
          <a:prstGeom prst="roundRect">
            <a:avLst>
              <a:gd name="adj" fmla="val 263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1831" y="1756618"/>
            <a:ext cx="57150" cy="2603822"/>
          </a:xfrm>
          <a:prstGeom prst="roundRect">
            <a:avLst>
              <a:gd name="adj" fmla="val 32558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677242" y="1894880"/>
            <a:ext cx="223048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Q1 — Frozen Alignment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7242" y="2163142"/>
            <a:ext cx="231517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Frozen expert-aligned attention exists, but is model-family dependent.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77242" y="2634481"/>
            <a:ext cx="231517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 leads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across all four metrics and is the only model to clear all calibration baselines. 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77242" y="3304282"/>
            <a:ext cx="231517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SigLIP 2 has the lowest MSE; base SigLIP has stronger overlap. Both fail EMD baseline clearance.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4648" y="1756618"/>
            <a:ext cx="2634630" cy="2603822"/>
          </a:xfrm>
          <a:prstGeom prst="roundRect">
            <a:avLst>
              <a:gd name="adj" fmla="val 263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0360" y="1756618"/>
            <a:ext cx="57150" cy="2603822"/>
          </a:xfrm>
          <a:prstGeom prst="roundRect">
            <a:avLst>
              <a:gd name="adj" fmla="val 32558"/>
            </a:avLst>
          </a:prstGeom>
          <a:solidFill>
            <a:srgbClr val="3E2513"/>
          </a:solidFill>
          <a:ln/>
        </p:spPr>
      </p:sp>
      <p:sp>
        <p:nvSpPr>
          <p:cNvPr id="12" name="Text 10"/>
          <p:cNvSpPr/>
          <p:nvPr/>
        </p:nvSpPr>
        <p:spPr>
          <a:xfrm>
            <a:off x="3435772" y="1894880"/>
            <a:ext cx="238735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Q2 — Fine-Tuning Effects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35772" y="2163142"/>
            <a:ext cx="2315245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Fine-tuning's effect is driven by three factors: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spatial prior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(DINO preserves),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linguistic coverage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(CLIP gains only on Gothic/Romanesque), and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geometric discriminability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(MAE gains on Renaissance pediments).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35772" y="3428330"/>
            <a:ext cx="2315245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Models converge on the same easy images (r = +0.677), ensembling the language cluster adds no coverage on hard images.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13252" y="1756618"/>
            <a:ext cx="2634555" cy="2603822"/>
          </a:xfrm>
          <a:prstGeom prst="roundRect">
            <a:avLst>
              <a:gd name="adj" fmla="val 263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98964" y="1756618"/>
            <a:ext cx="57150" cy="2603822"/>
          </a:xfrm>
          <a:prstGeom prst="roundRect">
            <a:avLst>
              <a:gd name="adj" fmla="val 32558"/>
            </a:avLst>
          </a:prstGeom>
          <a:solidFill>
            <a:srgbClr val="3E2513"/>
          </a:solidFill>
          <a:ln/>
        </p:spPr>
      </p:sp>
      <p:sp>
        <p:nvSpPr>
          <p:cNvPr id="17" name="Text 15"/>
          <p:cNvSpPr/>
          <p:nvPr/>
        </p:nvSpPr>
        <p:spPr>
          <a:xfrm>
            <a:off x="6194375" y="1894880"/>
            <a:ext cx="239806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Q3 — Head Specialisation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4375" y="2163142"/>
            <a:ext cx="231517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Head specialisation is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sparse and family-shaped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. 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94375" y="2634481"/>
            <a:ext cx="231517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 layer 10 / head 8 is stable across frozen and adapted variants. 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194375" y="3105820"/>
            <a:ext cx="231517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MAE is partly reshaped under fine-tuning. 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194375" y="3577158"/>
            <a:ext cx="231517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CLIP reorganises substantially, where alignment concentrates on portals, arches, and rose windows.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77976"/>
            <a:ext cx="487962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 &amp; METHODOLOGY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8053"/>
            <a:ext cx="397140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Dataset: WikiChurches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33624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WikiChurches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(Barz &amp; Denzler, NeurIPS 2021)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471613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Bounding boxes annotate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characteristic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architectural features — the diagnostic visual evidence experts use to distinguish styles.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1809601"/>
            <a:ext cx="8151763" cy="2835771"/>
          </a:xfrm>
          <a:prstGeom prst="roundRect">
            <a:avLst>
              <a:gd name="adj" fmla="val 656"/>
            </a:avLst>
          </a:prstGeom>
          <a:solidFill>
            <a:srgbClr val="F9F7F7"/>
          </a:solidFill>
          <a:ln/>
        </p:spPr>
      </p:sp>
      <p:sp>
        <p:nvSpPr>
          <p:cNvPr id="6" name="Shape 4"/>
          <p:cNvSpPr/>
          <p:nvPr/>
        </p:nvSpPr>
        <p:spPr>
          <a:xfrm>
            <a:off x="496119" y="1809601"/>
            <a:ext cx="2037904" cy="2835771"/>
          </a:xfrm>
          <a:prstGeom prst="roundRect">
            <a:avLst>
              <a:gd name="adj" fmla="val 913"/>
            </a:avLst>
          </a:prstGeom>
          <a:solidFill>
            <a:srgbClr val="F9F7F7"/>
          </a:solidFill>
          <a:ln/>
        </p:spPr>
      </p:sp>
      <p:sp>
        <p:nvSpPr>
          <p:cNvPr id="7" name="Text 5"/>
          <p:cNvSpPr/>
          <p:nvPr/>
        </p:nvSpPr>
        <p:spPr>
          <a:xfrm>
            <a:off x="620092" y="193357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Romanesque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0092" y="2201838"/>
            <a:ext cx="178995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Round arches, thick walls, small windows</a:t>
            </a:r>
            <a:endParaRPr lang="en-US" sz="9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2738289"/>
            <a:ext cx="1789956" cy="178303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534022" y="1809601"/>
            <a:ext cx="2037978" cy="283577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1" name="Shape 8"/>
          <p:cNvSpPr/>
          <p:nvPr/>
        </p:nvSpPr>
        <p:spPr>
          <a:xfrm>
            <a:off x="2534022" y="1809601"/>
            <a:ext cx="14288" cy="2835771"/>
          </a:xfrm>
          <a:prstGeom prst="roundRect">
            <a:avLst>
              <a:gd name="adj" fmla="val 130228"/>
            </a:avLst>
          </a:prstGeom>
          <a:solidFill>
            <a:srgbClr val="D8D4D4"/>
          </a:solidFill>
          <a:ln/>
        </p:spPr>
      </p:sp>
      <p:sp>
        <p:nvSpPr>
          <p:cNvPr id="12" name="Text 9"/>
          <p:cNvSpPr/>
          <p:nvPr/>
        </p:nvSpPr>
        <p:spPr>
          <a:xfrm>
            <a:off x="2657996" y="193357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Gothic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657996" y="2201838"/>
            <a:ext cx="179003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Pointed arches, flying buttresses, large windows</a:t>
            </a:r>
            <a:endParaRPr lang="en-US" sz="95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996" y="2738289"/>
            <a:ext cx="1790030" cy="178311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572000" y="1809601"/>
            <a:ext cx="2037904" cy="283577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16" name="Shape 12"/>
          <p:cNvSpPr/>
          <p:nvPr/>
        </p:nvSpPr>
        <p:spPr>
          <a:xfrm>
            <a:off x="4572000" y="1809601"/>
            <a:ext cx="14288" cy="2835771"/>
          </a:xfrm>
          <a:prstGeom prst="roundRect">
            <a:avLst>
              <a:gd name="adj" fmla="val 130228"/>
            </a:avLst>
          </a:prstGeom>
          <a:solidFill>
            <a:srgbClr val="D8D4D4"/>
          </a:solidFill>
          <a:ln/>
        </p:spPr>
      </p:sp>
      <p:sp>
        <p:nvSpPr>
          <p:cNvPr id="17" name="Text 13"/>
          <p:cNvSpPr/>
          <p:nvPr/>
        </p:nvSpPr>
        <p:spPr>
          <a:xfrm>
            <a:off x="4695974" y="193357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Renaissance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695974" y="2201838"/>
            <a:ext cx="1789956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Pediments, columns, symmetrical facades</a:t>
            </a:r>
            <a:endParaRPr lang="en-US" sz="9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5974" y="2738289"/>
            <a:ext cx="1789956" cy="1783035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609904" y="1809601"/>
            <a:ext cx="2037978" cy="2835771"/>
          </a:xfrm>
          <a:prstGeom prst="rect">
            <a:avLst/>
          </a:prstGeom>
          <a:solidFill>
            <a:srgbClr val="F9F7F7"/>
          </a:solidFill>
          <a:ln/>
        </p:spPr>
      </p:sp>
      <p:sp>
        <p:nvSpPr>
          <p:cNvPr id="21" name="Shape 16"/>
          <p:cNvSpPr/>
          <p:nvPr/>
        </p:nvSpPr>
        <p:spPr>
          <a:xfrm>
            <a:off x="6609904" y="1809601"/>
            <a:ext cx="14288" cy="2835771"/>
          </a:xfrm>
          <a:prstGeom prst="roundRect">
            <a:avLst>
              <a:gd name="adj" fmla="val 130228"/>
            </a:avLst>
          </a:prstGeom>
          <a:solidFill>
            <a:srgbClr val="D8D4D4"/>
          </a:solidFill>
          <a:ln/>
        </p:spPr>
      </p:sp>
      <p:sp>
        <p:nvSpPr>
          <p:cNvPr id="22" name="Text 17"/>
          <p:cNvSpPr/>
          <p:nvPr/>
        </p:nvSpPr>
        <p:spPr>
          <a:xfrm>
            <a:off x="6733877" y="1933575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Baroque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6733877" y="2201838"/>
            <a:ext cx="179003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Ornate decoration, dramatic use of light</a:t>
            </a:r>
            <a:endParaRPr lang="en-US" sz="9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3877" y="2738289"/>
            <a:ext cx="1790030" cy="17831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292224"/>
            <a:ext cx="8100640" cy="455897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6240"/>
            <a:ext cx="462632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7 Models Across Paradigms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71811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All ViT-B (12 layers, 768 dim, 12 heads, ~86–93M params) except ResNet-50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609799"/>
            <a:ext cx="8151763" cy="2897386"/>
          </a:xfrm>
          <a:prstGeom prst="roundRect">
            <a:avLst>
              <a:gd name="adj" fmla="val 64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5004" y="1693738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Model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092970" y="1693738"/>
            <a:ext cx="29109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Paradigm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99409" y="1693738"/>
            <a:ext cx="145836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Method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053286" y="1693738"/>
            <a:ext cx="292305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Key Feature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25004" y="2055316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DINOv2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092970" y="2055316"/>
            <a:ext cx="29109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Self-distillation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99409" y="2055316"/>
            <a:ext cx="145836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CLS, Rollout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053286" y="2055316"/>
            <a:ext cx="292305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 register tokens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25004" y="2416894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92970" y="2416894"/>
            <a:ext cx="29109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Self-distillation + Gram Anchoring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799409" y="2416894"/>
            <a:ext cx="145836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CLS, Rollout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053286" y="2416894"/>
            <a:ext cx="292305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RoPE encoding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004" y="2778472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92970" y="2778472"/>
            <a:ext cx="29109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Masked Autoencoding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799409" y="2778472"/>
            <a:ext cx="145836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CLS, Rollout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053286" y="2778472"/>
            <a:ext cx="292305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Pixel reconstruction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5004" y="3140050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CLIP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092970" y="3140050"/>
            <a:ext cx="29109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Contrastive (softmax)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799409" y="3140050"/>
            <a:ext cx="145836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CLS, Rollout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053286" y="3140050"/>
            <a:ext cx="292305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Language-image align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5004" y="3501628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SigLIP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92970" y="3501628"/>
            <a:ext cx="29109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Contrastive (sigmoid)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99409" y="3501628"/>
            <a:ext cx="145836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53286" y="3501628"/>
            <a:ext cx="292305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CLS token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25004" y="3863206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SigLIP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2092970" y="3863206"/>
            <a:ext cx="29109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Contrastive (sigmoid) + dense features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99409" y="3863206"/>
            <a:ext cx="145836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053286" y="3863206"/>
            <a:ext cx="292305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CLS token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5004" y="4224784"/>
            <a:ext cx="167245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ResNet-50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2092970" y="4224784"/>
            <a:ext cx="291092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Supervised (ImageNet)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799409" y="4224784"/>
            <a:ext cx="145836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Grad-CAM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053286" y="4224784"/>
            <a:ext cx="292305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CNN baseline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10232"/>
            <a:ext cx="5318299" cy="345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Metrics Used to Measure Alignment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441871" y="852264"/>
            <a:ext cx="8702129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 complementary metrics across 2 ground truth types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362322" y="1130052"/>
            <a:ext cx="4154463" cy="2899916"/>
          </a:xfrm>
          <a:prstGeom prst="roundRect">
            <a:avLst>
              <a:gd name="adj" fmla="val 571"/>
            </a:avLst>
          </a:prstGeom>
          <a:solidFill>
            <a:srgbClr val="F3E3D8"/>
          </a:solidFill>
          <a:ln/>
        </p:spPr>
      </p:sp>
      <p:sp>
        <p:nvSpPr>
          <p:cNvPr id="5" name="Text 3"/>
          <p:cNvSpPr/>
          <p:nvPr/>
        </p:nvSpPr>
        <p:spPr>
          <a:xfrm>
            <a:off x="472753" y="1228427"/>
            <a:ext cx="1870993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Binary Ground Truth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72753" y="1499443"/>
            <a:ext cx="439080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Hard bounding box mask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2753" y="1777231"/>
            <a:ext cx="1917576" cy="1188988"/>
          </a:xfrm>
          <a:prstGeom prst="roundRect">
            <a:avLst>
              <a:gd name="adj" fmla="val 1394"/>
            </a:avLst>
          </a:prstGeom>
          <a:solidFill>
            <a:srgbClr val="F3E3D8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7471" y="1901949"/>
            <a:ext cx="18381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IoU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7471" y="2172965"/>
            <a:ext cx="1668140" cy="5014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Spatial overlap of top-k% attention pixels vs. expert boxes.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Higher = better.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88704" y="1777231"/>
            <a:ext cx="1917650" cy="1188988"/>
          </a:xfrm>
          <a:prstGeom prst="roundRect">
            <a:avLst>
              <a:gd name="adj" fmla="val 1394"/>
            </a:avLst>
          </a:prstGeom>
          <a:solidFill>
            <a:srgbClr val="F3E3D8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13422" y="1901949"/>
            <a:ext cx="18381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Coverage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613422" y="2172965"/>
            <a:ext cx="1668214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Fraction of total attention energy inside boxes. No threshold needed.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Higher = better.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11526" y="1228427"/>
            <a:ext cx="2367707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Soft Gaussian Ground Truth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11526" y="1499443"/>
            <a:ext cx="4432474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Smooth falloff from box centre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711526" y="1777231"/>
            <a:ext cx="1948458" cy="1188988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36244" y="1901949"/>
            <a:ext cx="18381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MSE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36244" y="2172965"/>
            <a:ext cx="1699022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Pointwise intensity error.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= better.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58360" y="1777231"/>
            <a:ext cx="1948532" cy="1188988"/>
          </a:xfrm>
          <a:prstGeom prst="roundRect">
            <a:avLst>
              <a:gd name="adj" fmla="val 1394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83078" y="1901949"/>
            <a:ext cx="18381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KL Divergence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883078" y="2172965"/>
            <a:ext cx="1699096" cy="668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Distribution mismatch; penalises attention where experts assign none.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= better.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11526" y="3064594"/>
            <a:ext cx="3995365" cy="854720"/>
          </a:xfrm>
          <a:prstGeom prst="roundRect">
            <a:avLst>
              <a:gd name="adj" fmla="val 1939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6244" y="3189312"/>
            <a:ext cx="1838176" cy="172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36244" y="3460328"/>
            <a:ext cx="3745929" cy="3342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Earth Mover's Distance; spatial transport cost, distinguishes near-misses from far-misses. </a:t>
            </a:r>
            <a:pPr algn="l" indent="0" marL="0">
              <a:lnSpc>
                <a:spcPct val="126000"/>
              </a:lnSpc>
              <a:buNone/>
            </a:pPr>
            <a:r>
              <a:rPr lang="en-US" sz="8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Lower = better.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41871" y="4140622"/>
            <a:ext cx="8260259" cy="692572"/>
          </a:xfrm>
          <a:prstGeom prst="roundRect">
            <a:avLst>
              <a:gd name="adj" fmla="val 2393"/>
            </a:avLst>
          </a:prstGeom>
          <a:solidFill>
            <a:srgbClr val="B6D6FC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2301" y="4301058"/>
            <a:ext cx="138038" cy="11043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800770" y="4266605"/>
            <a:ext cx="8248129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Calibrated against 4 naive baselines: random · center Gaussian · saliency prior · Sobel edge. 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00770" y="4522291"/>
            <a:ext cx="8248129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Raw scores are uninterpretable without reference points.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77976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RESULTS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589559"/>
            <a:ext cx="486943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Q1: Frozen Model Benchmark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2225129"/>
            <a:ext cx="310083" cy="3100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269021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DINOv3 Leads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96119" y="2958480"/>
            <a:ext cx="261386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only frozen model to clear all 4 calibration baselines on all 3 continuous metrics</a:t>
            </a:r>
            <a:endParaRPr lang="en-US" sz="9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4991" y="2225129"/>
            <a:ext cx="310083" cy="31008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64991" y="269021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Not a Tidy Ranking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264991" y="2958480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 leads; base SigLIP outranks MAE and CLIP on IoU.</a:t>
            </a:r>
            <a:endParaRPr lang="en-US" sz="9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3939" y="2225129"/>
            <a:ext cx="310083" cy="31008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033939" y="2690217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Single-Metric Trap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033939" y="2958480"/>
            <a:ext cx="261394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SigLIP 2 has the lowest MSE; base SigLIP has stronger overlap. Both fail EMD clearance.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078037"/>
            <a:ext cx="5427538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a Multi-Metric Benchmark?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713607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Single metrics hide different failure modes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17557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IoU &amp; Coverage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96119" y="2493392"/>
            <a:ext cx="24872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Spatial overlap: does the model attend to the right region at all?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90739" y="217557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MSE &amp; KL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90739" y="2493392"/>
            <a:ext cx="257189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Distributional fidelity: does the attention mass concentrate correctly?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169968" y="217557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EMD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169968" y="2493392"/>
            <a:ext cx="2487290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Transport cost: how far does the model's attention need to travel to match the expert?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96119" y="3339926"/>
            <a:ext cx="8151763" cy="725463"/>
          </a:xfrm>
          <a:prstGeom prst="roundRect">
            <a:avLst>
              <a:gd name="adj" fmla="val 2565"/>
            </a:avLst>
          </a:prstGeom>
          <a:solidFill>
            <a:srgbClr val="FCF2B5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524473"/>
            <a:ext cx="155004" cy="1239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899071" y="3494856"/>
            <a:ext cx="7624837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SigLIP 2 has the lowest MSE, but base SigLIP is stronger on IoU. Both fail EMD baseline clearance; one metric tells the wrong story.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72070"/>
            <a:ext cx="3953545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Q1: Frozen Leaderboard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8379" y="993949"/>
            <a:ext cx="86244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Q1: Expert-Attention Alignment — Frozen Models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88379" y="1323008"/>
            <a:ext cx="86244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Paradigm ordering: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Self-distillation &gt; Supervised &gt; Reconstruction &gt; Multimodal Contrastive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88379" y="1652067"/>
            <a:ext cx="8167241" cy="2790230"/>
          </a:xfrm>
          <a:prstGeom prst="roundRect">
            <a:avLst>
              <a:gd name="adj" fmla="val 65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142" y="1656829"/>
            <a:ext cx="8157716" cy="3475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15330" y="1733699"/>
            <a:ext cx="1018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Rank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425253" y="1733699"/>
            <a:ext cx="156820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85095" y="1733699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IoU@90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982641" y="1733699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Coverage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180186" y="1733699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78550" y="1733699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576914" y="1733699"/>
            <a:ext cx="14091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93142" y="2004417"/>
            <a:ext cx="8157716" cy="3475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15330" y="2081287"/>
            <a:ext cx="1018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1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25253" y="2081287"/>
            <a:ext cx="156820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85095" y="2081287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0.133 (L11)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982641" y="2081287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0.137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180186" y="2081287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0.0270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378550" y="2081287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2.325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576914" y="2081287"/>
            <a:ext cx="14091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0.260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93142" y="2352005"/>
            <a:ext cx="8157716" cy="3475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615330" y="2428875"/>
            <a:ext cx="1018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425253" y="2428875"/>
            <a:ext cx="156820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ResNet-50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85095" y="2428875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0.090 (L3)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982641" y="2428875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0.104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180186" y="2428875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0.0242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378550" y="2428875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2.692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576914" y="2428875"/>
            <a:ext cx="14091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0.303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3142" y="2699593"/>
            <a:ext cx="8157716" cy="3475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615330" y="2776463"/>
            <a:ext cx="1018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425253" y="2776463"/>
            <a:ext cx="156820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DINOv2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785095" y="2776463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0.082 (L11)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982641" y="2776463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0.100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180186" y="2776463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0.0209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78550" y="2776463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2.684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576914" y="2776463"/>
            <a:ext cx="14091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0.298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93142" y="3047181"/>
            <a:ext cx="8157716" cy="3475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15330" y="3124051"/>
            <a:ext cx="1018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425253" y="3124051"/>
            <a:ext cx="156820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SigLIP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785095" y="3124051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0.074 (L8)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982641" y="3124051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0.076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5180186" y="3124051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0.01755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378550" y="3124051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3.002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576914" y="3124051"/>
            <a:ext cx="14091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0.348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93142" y="3394770"/>
            <a:ext cx="8157716" cy="3475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615330" y="3471639"/>
            <a:ext cx="1018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5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1425253" y="3471639"/>
            <a:ext cx="156820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MAE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785095" y="3471639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0.070 (L11)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982641" y="3471639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0.090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180186" y="3471639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0.0483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378550" y="3471639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2.756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576914" y="3471639"/>
            <a:ext cx="14091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0.318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93142" y="3742358"/>
            <a:ext cx="8157716" cy="3475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5" name="Text 53"/>
          <p:cNvSpPr/>
          <p:nvPr/>
        </p:nvSpPr>
        <p:spPr>
          <a:xfrm>
            <a:off x="615330" y="3819227"/>
            <a:ext cx="1018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6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425253" y="3819227"/>
            <a:ext cx="156820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CLIP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785095" y="3819227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0.049 (L0)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3982641" y="3819227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0.085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5180186" y="3819227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0.0211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6378550" y="3819227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2.912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7576914" y="3819227"/>
            <a:ext cx="14091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0.326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93142" y="4089946"/>
            <a:ext cx="8157716" cy="347588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63" name="Text 61"/>
          <p:cNvSpPr/>
          <p:nvPr/>
        </p:nvSpPr>
        <p:spPr>
          <a:xfrm>
            <a:off x="615330" y="4166815"/>
            <a:ext cx="10182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7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1425253" y="4166815"/>
            <a:ext cx="156820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SigLIP 2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2785095" y="4166815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0.047 (L4)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3982641" y="4166815"/>
            <a:ext cx="14059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0.071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5180186" y="4166815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0.01745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6378550" y="4166815"/>
            <a:ext cx="140672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3.071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7576914" y="4166815"/>
            <a:ext cx="140910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0.354</a:t>
            </a:r>
            <a:endParaRPr lang="en-US" sz="950" dirty="0"/>
          </a:p>
        </p:txBody>
      </p:sp>
      <p:sp>
        <p:nvSpPr>
          <p:cNvPr id="70" name="Text 68"/>
          <p:cNvSpPr/>
          <p:nvPr/>
        </p:nvSpPr>
        <p:spPr>
          <a:xfrm>
            <a:off x="488379" y="4577507"/>
            <a:ext cx="862444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Ranked by IoU@90 (best default-method layer per model, 139 annotated images)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36265"/>
            <a:ext cx="5750347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Q1: Why Raw Scores Aren't Enough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471836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Calibrated baseline clearance — the stronger test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93379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Naive Baselines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96119" y="2267173"/>
            <a:ext cx="3501851" cy="1812652"/>
          </a:xfrm>
          <a:prstGeom prst="roundRect">
            <a:avLst>
              <a:gd name="adj" fmla="val 102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4929" y="2351112"/>
            <a:ext cx="16037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Baseline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024211" y="2351112"/>
            <a:ext cx="9029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722662" y="2351112"/>
            <a:ext cx="9029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KL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421112" y="2351112"/>
            <a:ext cx="9053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EMD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24929" y="2712690"/>
            <a:ext cx="16037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Random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24211" y="2712690"/>
            <a:ext cx="9029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0.319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722662" y="2712690"/>
            <a:ext cx="9029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3.363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21112" y="2712690"/>
            <a:ext cx="9053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0.347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4929" y="3074268"/>
            <a:ext cx="16037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Center Gaussian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24211" y="3074268"/>
            <a:ext cx="9029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0.177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22662" y="3074268"/>
            <a:ext cx="9029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2.632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421112" y="3074268"/>
            <a:ext cx="9053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0.284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4929" y="3435846"/>
            <a:ext cx="16037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Saliency Prior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024211" y="3435846"/>
            <a:ext cx="9029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0.096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22662" y="3435846"/>
            <a:ext cx="9029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2.611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1112" y="3435846"/>
            <a:ext cx="9053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0.265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24929" y="3797424"/>
            <a:ext cx="160377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Sobel Edge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24211" y="3797424"/>
            <a:ext cx="9029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0.038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22662" y="3797424"/>
            <a:ext cx="902940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3.224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421112" y="3797424"/>
            <a:ext cx="90532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0.314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16003" y="1809824"/>
            <a:ext cx="4525863" cy="2497410"/>
          </a:xfrm>
          <a:prstGeom prst="roundRect">
            <a:avLst>
              <a:gd name="adj" fmla="val 745"/>
            </a:avLst>
          </a:prstGeom>
          <a:solidFill>
            <a:srgbClr val="F3E3D8"/>
          </a:solidFill>
          <a:ln/>
        </p:spPr>
      </p:sp>
      <p:sp>
        <p:nvSpPr>
          <p:cNvPr id="27" name="Text 25"/>
          <p:cNvSpPr/>
          <p:nvPr/>
        </p:nvSpPr>
        <p:spPr>
          <a:xfrm>
            <a:off x="4339977" y="1933798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39977" y="2267173"/>
            <a:ext cx="4277916" cy="725463"/>
          </a:xfrm>
          <a:prstGeom prst="roundRect">
            <a:avLst>
              <a:gd name="adj" fmla="val 2565"/>
            </a:avLst>
          </a:prstGeom>
          <a:solidFill>
            <a:srgbClr val="B6FCB8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3951" y="2451720"/>
            <a:ext cx="155004" cy="123974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4742929" y="2422103"/>
            <a:ext cx="37509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is the only frozen model to beat all 4 naive baselines on all 3 continuous metrics.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339977" y="3132162"/>
            <a:ext cx="4277916" cy="725463"/>
          </a:xfrm>
          <a:prstGeom prst="roundRect">
            <a:avLst>
              <a:gd name="adj" fmla="val 2565"/>
            </a:avLst>
          </a:prstGeom>
          <a:solidFill>
            <a:srgbClr val="FCF2B5"/>
          </a:solidFill>
          <a:ln/>
        </p:spPr>
      </p:sp>
      <p:pic>
        <p:nvPicPr>
          <p:cNvPr id="3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951" y="3316709"/>
            <a:ext cx="155004" cy="123974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4742929" y="3287092"/>
            <a:ext cx="375099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SigLIP2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narrowly wins SigLIP by MSE (0.01745 vs 0.01755), but both fail EMD (0.348 / 0.354 vs random 0.347).</a:t>
            </a:r>
            <a:endParaRPr lang="en-US" sz="950" dirty="0"/>
          </a:p>
        </p:txBody>
      </p:sp>
      <p:sp>
        <p:nvSpPr>
          <p:cNvPr id="34" name="Text 30"/>
          <p:cNvSpPr/>
          <p:nvPr/>
        </p:nvSpPr>
        <p:spPr>
          <a:xfrm>
            <a:off x="4339977" y="3997151"/>
            <a:ext cx="4735116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→ Local smoothness ≠ correct spatial placement of attention mass.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98934"/>
            <a:ext cx="8151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Q1: Why DINOv3 Leads — The Gram Anchoring Hypothesis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960066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Hypothesis: Gram anchoring preserves dense spatial structure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298055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 extends DINOv2's self-distillation recipe with a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Gram anchoring loss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it explicitly penalises Frobenius drift between student and early-teacher patch-patch feature matrices during long training.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834506"/>
            <a:ext cx="2634555" cy="1310060"/>
          </a:xfrm>
          <a:prstGeom prst="roundRect">
            <a:avLst>
              <a:gd name="adj" fmla="val 1420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620092" y="2958480"/>
            <a:ext cx="216009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DINOv3 ADE20k mIoU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0092" y="3226743"/>
            <a:ext cx="2386608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81.1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frozen — vs DINOv2's 75.9 and OpenCLIP's 63.8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4648" y="2834506"/>
            <a:ext cx="2634630" cy="1310060"/>
          </a:xfrm>
          <a:prstGeom prst="roundRect">
            <a:avLst>
              <a:gd name="adj" fmla="val 1420"/>
            </a:avLst>
          </a:prstGeom>
          <a:solidFill>
            <a:srgbClr val="F9F7F7"/>
          </a:solidFill>
          <a:ln/>
        </p:spPr>
      </p:sp>
      <p:sp>
        <p:nvSpPr>
          <p:cNvPr id="9" name="Text 7"/>
          <p:cNvSpPr/>
          <p:nvPr/>
        </p:nvSpPr>
        <p:spPr>
          <a:xfrm>
            <a:off x="3378622" y="295848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Why It Fits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78622" y="3226743"/>
            <a:ext cx="23866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 method designed to preserve clean dense patch features is a natural fit for metrics that reward spatial correspondence to expert boxes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13252" y="2834506"/>
            <a:ext cx="2634555" cy="1310060"/>
          </a:xfrm>
          <a:prstGeom prst="roundRect">
            <a:avLst>
              <a:gd name="adj" fmla="val 1420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6137225" y="2958480"/>
            <a:ext cx="20077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Caveat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37225" y="3226743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remains a hypothesis — the current study does not ablate data scale, model scale, and Gram anchoring separately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57473"/>
            <a:ext cx="5838453" cy="2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Q1: Dashboard View — DINOv3's Late-Layer Jump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4003" y="664146"/>
            <a:ext cx="5575920" cy="390465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56605" y="4640833"/>
            <a:ext cx="7030715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 shows a sharp alignment jump at layer 11 — IoU@90 = 0.133. No other frozen model shows this late-layer concentration. This is consistent with the Gram anchoring hypothesis: spatial coherence accumulates through depth and crystallises in the final layers.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65162" y="366861"/>
            <a:ext cx="3755975" cy="3633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Q2: Experiment Design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65162" y="948258"/>
            <a:ext cx="867087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Does fine-tuning shift attention toward expert-marked regions?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65162" y="1251124"/>
            <a:ext cx="8213675" cy="1306116"/>
          </a:xfrm>
          <a:prstGeom prst="roundRect">
            <a:avLst>
              <a:gd name="adj" fmla="val 133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6160" y="1326059"/>
            <a:ext cx="2027262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Strategy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93454" y="1326059"/>
            <a:ext cx="2024881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Backbone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98367" y="1326059"/>
            <a:ext cx="169671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Params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675114" y="1326059"/>
            <a:ext cx="3339926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86160" y="1651397"/>
            <a:ext cx="2027262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Linear Probe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93454" y="1651397"/>
            <a:ext cx="2024881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Frozen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98367" y="1651397"/>
            <a:ext cx="169671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~3K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675114" y="1651397"/>
            <a:ext cx="3339926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Control — attention unchanged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86160" y="1976735"/>
            <a:ext cx="2027262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LoRA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93454" y="1976735"/>
            <a:ext cx="2024881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Partially adapted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98367" y="1976735"/>
            <a:ext cx="169671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~300K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675114" y="1976735"/>
            <a:ext cx="3339926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Parameter-efficient adaptation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6160" y="2302073"/>
            <a:ext cx="2027262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Full Fine-tuning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93454" y="2302073"/>
            <a:ext cx="2024881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Updated end-to-end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98367" y="2302073"/>
            <a:ext cx="1696715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86–93M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75114" y="2302073"/>
            <a:ext cx="3339926" cy="180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Maximum adaptation capacity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5162" y="2788890"/>
            <a:ext cx="19108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Training Setup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5162" y="3079552"/>
            <a:ext cx="3965004" cy="8352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4-class style classification</a:t>
            </a:r>
            <a:endParaRPr lang="en-US" sz="9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4,588 training images</a:t>
            </a:r>
            <a:endParaRPr lang="en-US" sz="9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 epochs · Cosine LR + warmup</a:t>
            </a:r>
            <a:endParaRPr lang="en-US" sz="9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Class-weighted loss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34880" y="2679874"/>
            <a:ext cx="4132436" cy="2096765"/>
          </a:xfrm>
          <a:prstGeom prst="roundRect">
            <a:avLst>
              <a:gd name="adj" fmla="val 832"/>
            </a:avLst>
          </a:prstGeom>
          <a:solidFill>
            <a:srgbClr val="F3E3D8"/>
          </a:solidFill>
          <a:ln/>
        </p:spPr>
      </p:sp>
      <p:sp>
        <p:nvSpPr>
          <p:cNvPr id="24" name="Text 22"/>
          <p:cNvSpPr/>
          <p:nvPr/>
        </p:nvSpPr>
        <p:spPr>
          <a:xfrm>
            <a:off x="4751115" y="2788890"/>
            <a:ext cx="1910804" cy="181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Measurement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1115" y="3079552"/>
            <a:ext cx="3899967" cy="616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Δ metric = fine-tuned − frozen</a:t>
            </a:r>
            <a:endParaRPr lang="en-US" sz="9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Paired Wilcoxon tests</a:t>
            </a:r>
            <a:endParaRPr lang="en-US" sz="900" dirty="0"/>
          </a:p>
          <a:p>
            <a:pPr algn="l" marL="342900" indent="-342900">
              <a:lnSpc>
                <a:spcPct val="129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Holm correction · Cohen's 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1115" y="3819079"/>
            <a:ext cx="3899967" cy="834926"/>
          </a:xfrm>
          <a:prstGeom prst="roundRect">
            <a:avLst>
              <a:gd name="adj" fmla="val 2089"/>
            </a:avLst>
          </a:prstGeom>
          <a:solidFill>
            <a:srgbClr val="B6FCB8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7349" y="3991198"/>
            <a:ext cx="145331" cy="116235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128915" y="3957117"/>
            <a:ext cx="3405932" cy="540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Linear Probe Δ ≈ 0 across all models — confirms attention movement is tied to backbone change, not a reporting artefact.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643" y="283071"/>
            <a:ext cx="4353818" cy="320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Q2: Results Overview Heatmap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21643" y="774129"/>
            <a:ext cx="8557840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Multi-metric improvement heatmap — the big picture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9532" y="1115690"/>
            <a:ext cx="4369891" cy="288190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22777" y="1105049"/>
            <a:ext cx="2004194" cy="321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Three clusters in the pairwise Δ correlation matrix: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622777" y="1578248"/>
            <a:ext cx="51346" cy="51346"/>
          </a:xfrm>
          <a:prstGeom prst="roundRect">
            <a:avLst>
              <a:gd name="adj" fmla="val 556519"/>
            </a:avLst>
          </a:prstGeom>
          <a:solidFill>
            <a:srgbClr val="3E2513"/>
          </a:solidFill>
          <a:ln/>
        </p:spPr>
      </p:sp>
      <p:sp>
        <p:nvSpPr>
          <p:cNvPr id="7" name="Text 4"/>
          <p:cNvSpPr/>
          <p:nvPr/>
        </p:nvSpPr>
        <p:spPr>
          <a:xfrm>
            <a:off x="6759178" y="1521768"/>
            <a:ext cx="1867793" cy="3003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Language cluster (CLIP, SigLIP, SigLIP 2)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6759178" y="1898600"/>
            <a:ext cx="1867793" cy="240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within-cluster r ≈ 0.43–0.58 — all improve on the same Gothic/Romanesque portals</a:t>
            </a:r>
            <a:endParaRPr lang="en-US" sz="600" dirty="0"/>
          </a:p>
        </p:txBody>
      </p:sp>
      <p:sp>
        <p:nvSpPr>
          <p:cNvPr id="9" name="Shape 6"/>
          <p:cNvSpPr/>
          <p:nvPr/>
        </p:nvSpPr>
        <p:spPr>
          <a:xfrm>
            <a:off x="6622777" y="2365400"/>
            <a:ext cx="51346" cy="51346"/>
          </a:xfrm>
          <a:prstGeom prst="roundRect">
            <a:avLst>
              <a:gd name="adj" fmla="val 556519"/>
            </a:avLst>
          </a:prstGeom>
          <a:solidFill>
            <a:srgbClr val="3E2513"/>
          </a:solidFill>
          <a:ln/>
        </p:spPr>
      </p:sp>
      <p:sp>
        <p:nvSpPr>
          <p:cNvPr id="10" name="Text 7"/>
          <p:cNvSpPr/>
          <p:nvPr/>
        </p:nvSpPr>
        <p:spPr>
          <a:xfrm>
            <a:off x="6759178" y="2308920"/>
            <a:ext cx="232499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MAE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759178" y="2535585"/>
            <a:ext cx="1867793" cy="360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anti-correlated with language cluster (r ≈ −0.22 to −0.31) — covers a different image subset (Renaissance geometry)</a:t>
            </a:r>
            <a:endParaRPr lang="en-US" sz="600" dirty="0"/>
          </a:p>
        </p:txBody>
      </p:sp>
      <p:sp>
        <p:nvSpPr>
          <p:cNvPr id="12" name="Shape 9"/>
          <p:cNvSpPr/>
          <p:nvPr/>
        </p:nvSpPr>
        <p:spPr>
          <a:xfrm>
            <a:off x="6622777" y="3122488"/>
            <a:ext cx="51346" cy="51346"/>
          </a:xfrm>
          <a:prstGeom prst="roundRect">
            <a:avLst>
              <a:gd name="adj" fmla="val 556519"/>
            </a:avLst>
          </a:prstGeom>
          <a:solidFill>
            <a:srgbClr val="3E2513"/>
          </a:solidFill>
          <a:ln/>
        </p:spPr>
      </p:sp>
      <p:sp>
        <p:nvSpPr>
          <p:cNvPr id="13" name="Text 10"/>
          <p:cNvSpPr/>
          <p:nvPr/>
        </p:nvSpPr>
        <p:spPr>
          <a:xfrm>
            <a:off x="6759178" y="3066008"/>
            <a:ext cx="232499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8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 pair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759178" y="3292673"/>
            <a:ext cx="1867793" cy="240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near-zero correlation with everything — Δ ≈ 0 everywhere, nothing to latch onto</a:t>
            </a:r>
            <a:endParaRPr lang="en-US" sz="600" dirty="0"/>
          </a:p>
        </p:txBody>
      </p:sp>
      <p:sp>
        <p:nvSpPr>
          <p:cNvPr id="15" name="Shape 12"/>
          <p:cNvSpPr/>
          <p:nvPr/>
        </p:nvSpPr>
        <p:spPr>
          <a:xfrm>
            <a:off x="521643" y="4188991"/>
            <a:ext cx="2643485" cy="671364"/>
          </a:xfrm>
          <a:prstGeom prst="roundRect">
            <a:avLst>
              <a:gd name="adj" fmla="val 2295"/>
            </a:avLst>
          </a:prstGeom>
          <a:solidFill>
            <a:srgbClr val="F9F7F7"/>
          </a:solidFill>
          <a:ln/>
        </p:spPr>
      </p:sp>
      <p:sp>
        <p:nvSpPr>
          <p:cNvPr id="16" name="Text 13"/>
          <p:cNvSpPr/>
          <p:nvPr/>
        </p:nvSpPr>
        <p:spPr>
          <a:xfrm>
            <a:off x="624334" y="4291682"/>
            <a:ext cx="1741215" cy="17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🔵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Enhance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4334" y="4517454"/>
            <a:ext cx="2438102" cy="240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Fine-tuning improves attention alignment — statistically significant improvements marked with asterisk</a:t>
            </a:r>
            <a:endParaRPr lang="en-US" sz="600" dirty="0"/>
          </a:p>
        </p:txBody>
      </p:sp>
      <p:sp>
        <p:nvSpPr>
          <p:cNvPr id="18" name="Shape 15"/>
          <p:cNvSpPr/>
          <p:nvPr/>
        </p:nvSpPr>
        <p:spPr>
          <a:xfrm>
            <a:off x="3250183" y="4188991"/>
            <a:ext cx="2643485" cy="671364"/>
          </a:xfrm>
          <a:prstGeom prst="roundRect">
            <a:avLst>
              <a:gd name="adj" fmla="val 2295"/>
            </a:avLst>
          </a:prstGeom>
          <a:solidFill>
            <a:srgbClr val="F9F7F7"/>
          </a:solidFill>
          <a:ln/>
        </p:spPr>
      </p:sp>
      <p:sp>
        <p:nvSpPr>
          <p:cNvPr id="19" name="Text 16"/>
          <p:cNvSpPr/>
          <p:nvPr/>
        </p:nvSpPr>
        <p:spPr>
          <a:xfrm>
            <a:off x="3352874" y="4291682"/>
            <a:ext cx="1741215" cy="17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⚪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Preserve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3352874" y="4517454"/>
            <a:ext cx="2438102" cy="240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Fine-tuning leaves alignment largely unchanged — DINO family near-zero</a:t>
            </a:r>
            <a:endParaRPr lang="en-US" sz="600" dirty="0"/>
          </a:p>
        </p:txBody>
      </p:sp>
      <p:sp>
        <p:nvSpPr>
          <p:cNvPr id="21" name="Shape 18"/>
          <p:cNvSpPr/>
          <p:nvPr/>
        </p:nvSpPr>
        <p:spPr>
          <a:xfrm>
            <a:off x="5978723" y="4188991"/>
            <a:ext cx="2643485" cy="671364"/>
          </a:xfrm>
          <a:prstGeom prst="roundRect">
            <a:avLst>
              <a:gd name="adj" fmla="val 2295"/>
            </a:avLst>
          </a:prstGeom>
          <a:solidFill>
            <a:srgbClr val="F9F7F7"/>
          </a:solidFill>
          <a:ln/>
        </p:spPr>
      </p:sp>
      <p:sp>
        <p:nvSpPr>
          <p:cNvPr id="22" name="Text 19"/>
          <p:cNvSpPr/>
          <p:nvPr/>
        </p:nvSpPr>
        <p:spPr>
          <a:xfrm>
            <a:off x="6081415" y="4291682"/>
            <a:ext cx="1741215" cy="174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Destroy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081415" y="4517454"/>
            <a:ext cx="2438102" cy="240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Fine-tuning degrades alignment — occasionally negative for DINO family</a:t>
            </a:r>
            <a:endParaRPr lang="en-US" sz="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62992"/>
            <a:ext cx="3509888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Q2: The CLIP Story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8379" y="792584"/>
            <a:ext cx="7642622" cy="30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CLIP: Largest gain, but only where language already pointed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88379" y="1278062"/>
            <a:ext cx="8167241" cy="4297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Full fine-tuning: IoU 0.018 → 0.074 (Cohen's d ≈ 1.0)</a:t>
            </a:r>
            <a:endParaRPr lang="en-US" sz="950" dirty="0"/>
          </a:p>
          <a:p>
            <a:pPr algn="l" marL="342900" indent="-342900">
              <a:lnSpc>
                <a:spcPct val="132000"/>
              </a:lnSpc>
              <a:buSzPct val="100000"/>
              <a:buChar char="•"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LoRA also improves substantially, but less than Full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88379" y="1888034"/>
            <a:ext cx="2954313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But the gain is not uniform: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88379" y="2297162"/>
            <a:ext cx="8167241" cy="1766515"/>
          </a:xfrm>
          <a:prstGeom prst="roundRect">
            <a:avLst>
              <a:gd name="adj" fmla="val 103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5181" y="2378794"/>
            <a:ext cx="42895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Style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96420" y="2378794"/>
            <a:ext cx="42895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CLIP Δ IoU (Full FT)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15181" y="2731145"/>
            <a:ext cx="42895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Gothic (n=49)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696420" y="2731145"/>
            <a:ext cx="42895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+0.079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15181" y="3083496"/>
            <a:ext cx="42895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Romanesque (n=54)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696420" y="3083496"/>
            <a:ext cx="42895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+0.066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15181" y="3435846"/>
            <a:ext cx="42895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Renaissance (n=22)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96420" y="3435846"/>
            <a:ext cx="42895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+0.014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15181" y="3788197"/>
            <a:ext cx="42895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Baroque (n=17)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96420" y="3788197"/>
            <a:ext cx="4289599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+0.013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8379" y="4198888"/>
            <a:ext cx="8167241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Why: CLIP is trained on 400M web image–text pairs with a global contrastive loss — no patch-level spatial pressure. Fine-tuning is the first spatial signal. Gains concentrate on Gothic and Romanesque because these styles' diagnostic features (Pointed Arch Portals, Round Arch Portals, Bull's-eye Windows, Tracery) are densely represented in English-language web descriptions of churches.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4132" y="333821"/>
            <a:ext cx="317070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Q2: The MAE Story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434132" y="710952"/>
            <a:ext cx="6891486" cy="2713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MAE: Renaissance pediment geometry — gains from scratch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434132" y="1124694"/>
            <a:ext cx="870986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MAE's largest single-style gain: Renaissance Δ IoU = +0.108 (vs. +0.029 aggregate)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34132" y="1394296"/>
            <a:ext cx="8275737" cy="2982962"/>
          </a:xfrm>
          <a:prstGeom prst="roundRect">
            <a:avLst>
              <a:gd name="adj" fmla="val 54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7539" y="1460748"/>
            <a:ext cx="2813521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Feature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125614" y="1460748"/>
            <a:ext cx="166962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Frozen IoU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59796" y="1460748"/>
            <a:ext cx="162907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Fine-tuned IoU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53423" y="1460748"/>
            <a:ext cx="310038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Δ IoU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7539" y="1751707"/>
            <a:ext cx="2813521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Triangular Pediment</a:t>
            </a:r>
            <a:endParaRPr lang="en-US" sz="85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539" y="1971452"/>
            <a:ext cx="894011" cy="59360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25614" y="1751707"/>
            <a:ext cx="166962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0.036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559796" y="1751707"/>
            <a:ext cx="162907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0.116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5842546" y="1687637"/>
            <a:ext cx="2862560" cy="941487"/>
          </a:xfrm>
          <a:prstGeom prst="rect">
            <a:avLst/>
          </a:prstGeom>
          <a:solidFill>
            <a:srgbClr val="AEE4BD"/>
          </a:solidFill>
          <a:ln/>
        </p:spPr>
      </p:sp>
      <p:sp>
        <p:nvSpPr>
          <p:cNvPr id="15" name="Text 12"/>
          <p:cNvSpPr/>
          <p:nvPr/>
        </p:nvSpPr>
        <p:spPr>
          <a:xfrm>
            <a:off x="5953423" y="1751707"/>
            <a:ext cx="310038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+0.080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47539" y="2693194"/>
            <a:ext cx="2813521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Cranked Cornice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125614" y="2693194"/>
            <a:ext cx="166962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0.005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559796" y="2693194"/>
            <a:ext cx="162907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0.067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5842546" y="2629123"/>
            <a:ext cx="2862560" cy="290959"/>
          </a:xfrm>
          <a:prstGeom prst="rect">
            <a:avLst/>
          </a:prstGeom>
          <a:solidFill>
            <a:srgbClr val="AEE4BD"/>
          </a:solidFill>
          <a:ln/>
        </p:spPr>
      </p:sp>
      <p:sp>
        <p:nvSpPr>
          <p:cNvPr id="20" name="Text 17"/>
          <p:cNvSpPr/>
          <p:nvPr/>
        </p:nvSpPr>
        <p:spPr>
          <a:xfrm>
            <a:off x="5953423" y="2693194"/>
            <a:ext cx="310038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+0.062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547539" y="2984153"/>
            <a:ext cx="2813521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Broken Pediment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3125614" y="2984153"/>
            <a:ext cx="166962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0.005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4559796" y="2984153"/>
            <a:ext cx="162907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0.060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5842546" y="2920082"/>
            <a:ext cx="2862560" cy="290959"/>
          </a:xfrm>
          <a:prstGeom prst="rect">
            <a:avLst/>
          </a:prstGeom>
          <a:solidFill>
            <a:srgbClr val="AEE4BD"/>
          </a:solidFill>
          <a:ln/>
        </p:spPr>
      </p:sp>
      <p:sp>
        <p:nvSpPr>
          <p:cNvPr id="25" name="Text 22"/>
          <p:cNvSpPr/>
          <p:nvPr/>
        </p:nvSpPr>
        <p:spPr>
          <a:xfrm>
            <a:off x="5953423" y="2984153"/>
            <a:ext cx="310038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+0.055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547539" y="3275112"/>
            <a:ext cx="2813521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Volute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125614" y="3275112"/>
            <a:ext cx="166962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0.009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559796" y="3275112"/>
            <a:ext cx="162907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0.052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5842546" y="3211041"/>
            <a:ext cx="2862560" cy="290959"/>
          </a:xfrm>
          <a:prstGeom prst="rect">
            <a:avLst/>
          </a:prstGeom>
          <a:solidFill>
            <a:srgbClr val="AEE4BD"/>
          </a:solidFill>
          <a:ln/>
        </p:spPr>
      </p:sp>
      <p:sp>
        <p:nvSpPr>
          <p:cNvPr id="30" name="Text 27"/>
          <p:cNvSpPr/>
          <p:nvPr/>
        </p:nvSpPr>
        <p:spPr>
          <a:xfrm>
            <a:off x="5953423" y="3275112"/>
            <a:ext cx="310038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3E2513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+0.043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547539" y="3566071"/>
            <a:ext cx="2813521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Segmental Pediment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3125614" y="3566071"/>
            <a:ext cx="166962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0.013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59796" y="3566071"/>
            <a:ext cx="162907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0.054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5842546" y="3502000"/>
            <a:ext cx="2862560" cy="290959"/>
          </a:xfrm>
          <a:prstGeom prst="rect">
            <a:avLst/>
          </a:prstGeom>
          <a:solidFill>
            <a:srgbClr val="AEE4BD"/>
          </a:solidFill>
          <a:ln/>
        </p:spPr>
      </p:sp>
      <p:sp>
        <p:nvSpPr>
          <p:cNvPr id="35" name="Text 32"/>
          <p:cNvSpPr/>
          <p:nvPr/>
        </p:nvSpPr>
        <p:spPr>
          <a:xfrm>
            <a:off x="5953423" y="3566071"/>
            <a:ext cx="310038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+0.042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47539" y="3857030"/>
            <a:ext cx="2813521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Pilaster (common)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3125614" y="3857030"/>
            <a:ext cx="166962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0.023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4559796" y="3857030"/>
            <a:ext cx="162907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0.011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842546" y="3792959"/>
            <a:ext cx="2862560" cy="290959"/>
          </a:xfrm>
          <a:prstGeom prst="rect">
            <a:avLst/>
          </a:prstGeom>
          <a:solidFill>
            <a:srgbClr val="FAA1A1"/>
          </a:solidFill>
          <a:ln/>
        </p:spPr>
      </p:sp>
      <p:sp>
        <p:nvSpPr>
          <p:cNvPr id="40" name="Text 37"/>
          <p:cNvSpPr/>
          <p:nvPr/>
        </p:nvSpPr>
        <p:spPr>
          <a:xfrm>
            <a:off x="5953423" y="3857030"/>
            <a:ext cx="310038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−0.012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47539" y="4147989"/>
            <a:ext cx="2813521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Belt Course (common)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3125614" y="4147989"/>
            <a:ext cx="166962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0.031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4559796" y="4147989"/>
            <a:ext cx="1629073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0.016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842546" y="4083918"/>
            <a:ext cx="2862560" cy="288578"/>
          </a:xfrm>
          <a:prstGeom prst="rect">
            <a:avLst/>
          </a:prstGeom>
          <a:solidFill>
            <a:srgbClr val="FAA1A1"/>
          </a:solidFill>
          <a:ln/>
        </p:spPr>
      </p:sp>
      <p:sp>
        <p:nvSpPr>
          <p:cNvPr id="45" name="Text 42"/>
          <p:cNvSpPr/>
          <p:nvPr/>
        </p:nvSpPr>
        <p:spPr>
          <a:xfrm>
            <a:off x="5953423" y="4147989"/>
            <a:ext cx="3100388" cy="162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−0.016</a:t>
            </a:r>
            <a:endParaRPr lang="en-US" sz="850" dirty="0"/>
          </a:p>
        </p:txBody>
      </p:sp>
      <p:sp>
        <p:nvSpPr>
          <p:cNvPr id="46" name="Text 43"/>
          <p:cNvSpPr/>
          <p:nvPr/>
        </p:nvSpPr>
        <p:spPr>
          <a:xfrm>
            <a:off x="434132" y="4484043"/>
            <a:ext cx="8275737" cy="325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Why: MAE's 75% masking forces precise local geometry encoding. Pediments are geometrically compact and Renaissance-exclusive — the style-classification gradient routes attention to the most discriminative geometric forms, suppressing features that appear across multiple styles.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95449"/>
            <a:ext cx="404738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Q2: The SigLIP Variants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932557"/>
            <a:ext cx="8151763" cy="6630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Weak </a:t>
            </a:r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layer11</a:t>
            </a:r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 frozen baselines → adaptation sharpens, but variants differ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96119" y="1781621"/>
            <a:ext cx="8608963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Q2 is measured at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layer11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(not each model's Q1 best layer):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124373"/>
            <a:ext cx="8151763" cy="1089496"/>
          </a:xfrm>
          <a:prstGeom prst="roundRect">
            <a:avLst>
              <a:gd name="adj" fmla="val 170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5078" y="2208312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55862" y="2208312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Frozen IoU@90 (L11)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884265" y="2208312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Full FT IoU@90 (L11)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512668" y="2208312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Δ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41071" y="2208312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Cohen's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25078" y="2569890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SigLIP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255862" y="2569890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0.0364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84265" y="2569890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0.0618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386313" y="2488332"/>
            <a:ext cx="1628403" cy="361578"/>
          </a:xfrm>
          <a:prstGeom prst="rect">
            <a:avLst/>
          </a:prstGeom>
          <a:solidFill>
            <a:srgbClr val="AEE4BD"/>
          </a:solidFill>
          <a:ln/>
        </p:spPr>
      </p:sp>
      <p:sp>
        <p:nvSpPr>
          <p:cNvPr id="15" name="Text 13"/>
          <p:cNvSpPr/>
          <p:nvPr/>
        </p:nvSpPr>
        <p:spPr>
          <a:xfrm>
            <a:off x="5512668" y="2569890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+0.0254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141071" y="2569890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0.604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5078" y="2931468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SigLIP 2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255862" y="2931468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0.0220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884265" y="2931468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0.0519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386313" y="2849910"/>
            <a:ext cx="1628403" cy="359197"/>
          </a:xfrm>
          <a:prstGeom prst="rect">
            <a:avLst/>
          </a:prstGeom>
          <a:solidFill>
            <a:srgbClr val="AEE4BD"/>
          </a:solidFill>
          <a:ln/>
        </p:spPr>
      </p:sp>
      <p:sp>
        <p:nvSpPr>
          <p:cNvPr id="21" name="Text 19"/>
          <p:cNvSpPr/>
          <p:nvPr/>
        </p:nvSpPr>
        <p:spPr>
          <a:xfrm>
            <a:off x="5512668" y="2931468"/>
            <a:ext cx="183289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+0.0299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7141071" y="2931468"/>
            <a:ext cx="1835274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0.781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96119" y="3421596"/>
            <a:ext cx="61987" cy="61987"/>
          </a:xfrm>
          <a:prstGeom prst="roundRect">
            <a:avLst>
              <a:gd name="adj" fmla="val 460984"/>
            </a:avLst>
          </a:prstGeom>
          <a:solidFill>
            <a:srgbClr val="3E2513"/>
          </a:solidFill>
          <a:ln/>
        </p:spPr>
      </p:sp>
      <p:sp>
        <p:nvSpPr>
          <p:cNvPr id="24" name="Text 22"/>
          <p:cNvSpPr/>
          <p:nvPr/>
        </p:nvSpPr>
        <p:spPr>
          <a:xfrm>
            <a:off x="682079" y="3353395"/>
            <a:ext cx="8423002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Base SigLIP stays higher in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absolute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IoU@90 post-FT (0.062 vs. 0.052).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96119" y="3868080"/>
            <a:ext cx="61987" cy="61987"/>
          </a:xfrm>
          <a:prstGeom prst="roundRect">
            <a:avLst>
              <a:gd name="adj" fmla="val 460984"/>
            </a:avLst>
          </a:prstGeom>
          <a:solidFill>
            <a:srgbClr val="3E2513"/>
          </a:solidFill>
          <a:ln/>
        </p:spPr>
      </p:sp>
      <p:sp>
        <p:nvSpPr>
          <p:cNvPr id="26" name="Text 24"/>
          <p:cNvSpPr/>
          <p:nvPr/>
        </p:nvSpPr>
        <p:spPr>
          <a:xfrm>
            <a:off x="682079" y="3799880"/>
            <a:ext cx="796580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SigLIP 2 moves further in </a:t>
            </a:r>
            <a:pPr algn="l" indent="0" marL="0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standardised-effect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terms — consistent with more late-layer adaptation headroom from a weaker starting point and SigLIP 2's denser grounding components.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96119" y="4513027"/>
            <a:ext cx="61987" cy="61987"/>
          </a:xfrm>
          <a:prstGeom prst="roundRect">
            <a:avLst>
              <a:gd name="adj" fmla="val 460984"/>
            </a:avLst>
          </a:prstGeom>
          <a:solidFill>
            <a:srgbClr val="3E2513"/>
          </a:solidFill>
          <a:ln/>
        </p:spPr>
      </p:sp>
      <p:sp>
        <p:nvSpPr>
          <p:cNvPr id="28" name="Text 26"/>
          <p:cNvSpPr/>
          <p:nvPr/>
        </p:nvSpPr>
        <p:spPr>
          <a:xfrm>
            <a:off x="682079" y="4444826"/>
            <a:ext cx="8423002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Q2 is sharpening a weak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layer11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signal, </a:t>
            </a:r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not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improving each model's best frozen layer (Base SigLIP peaks at 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layer8</a:t>
            </a:r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).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8066" y="289173"/>
            <a:ext cx="2976860" cy="314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Q2: The DINO Story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98066" y="636836"/>
            <a:ext cx="4689425" cy="251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DINO: Near-zero Δ is a feature, not a failure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7508" y="1011585"/>
            <a:ext cx="5208910" cy="234761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98066" y="3451324"/>
            <a:ext cx="7947794" cy="780529"/>
          </a:xfrm>
          <a:prstGeom prst="roundRect">
            <a:avLst>
              <a:gd name="adj" fmla="val 193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3734" y="3509963"/>
            <a:ext cx="184092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2293739" y="3509963"/>
            <a:ext cx="183854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Romanesque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3881363" y="3509963"/>
            <a:ext cx="183854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Gothic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468987" y="3509963"/>
            <a:ext cx="183854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Renaissance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7056611" y="3509963"/>
            <a:ext cx="184092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Baroque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703734" y="3768551"/>
            <a:ext cx="184092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DINOv2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2293739" y="3768551"/>
            <a:ext cx="183854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−0.010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3881363" y="3768551"/>
            <a:ext cx="183854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+0.001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468987" y="3768551"/>
            <a:ext cx="183854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−0.004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7056611" y="3768551"/>
            <a:ext cx="184092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−0.012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703734" y="4027140"/>
            <a:ext cx="184092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293739" y="4027140"/>
            <a:ext cx="183854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−0.001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3881363" y="4027140"/>
            <a:ext cx="183854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+0.006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468987" y="4027140"/>
            <a:ext cx="1838548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−0.004</a:t>
            </a:r>
            <a:endParaRPr lang="en-US" sz="750" dirty="0"/>
          </a:p>
        </p:txBody>
      </p:sp>
      <p:sp>
        <p:nvSpPr>
          <p:cNvPr id="20" name="Text 17"/>
          <p:cNvSpPr/>
          <p:nvPr/>
        </p:nvSpPr>
        <p:spPr>
          <a:xfrm>
            <a:off x="7056611" y="4027140"/>
            <a:ext cx="1840929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−0.009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598066" y="4323978"/>
            <a:ext cx="8404994" cy="146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 frozen ADE20k mIoU = 81.1. Expert-aligned spatial structure is already baked in.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598066" y="4562177"/>
            <a:ext cx="7947794" cy="292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7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style-classification gradient is absorbed by the classification head rather than propagating to reshape attention. Δ ≈ 0 is a positive generalisation result — the strong frozen prior resists reorganisation.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01526"/>
            <a:ext cx="7027069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Q2: The Surprise — Models Converge on the Same Images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03759" y="620167"/>
            <a:ext cx="5078537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DINOv3 frozen IoU predicts CLIP Δ IoU at r = +0.677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7602" y="957337"/>
            <a:ext cx="4648721" cy="305648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03759" y="4092253"/>
            <a:ext cx="7793608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Images where DINOv3 already attends correctly are the same images where CLIP's fine-tuning succeeds.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903759" y="4300910"/>
            <a:ext cx="7793608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structural barrier is the image, not the model family.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903759" y="4509567"/>
            <a:ext cx="7336408" cy="332408"/>
          </a:xfrm>
          <a:prstGeom prst="roundRect">
            <a:avLst>
              <a:gd name="adj" fmla="val 4198"/>
            </a:avLst>
          </a:prstGeom>
          <a:solidFill>
            <a:srgbClr val="B6D6F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776" y="4639642"/>
            <a:ext cx="116235" cy="930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06029" y="4602510"/>
            <a:ext cx="7398321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70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Implication:</a:t>
            </a:r>
            <a:pPr algn="l" indent="0" marL="0">
              <a:lnSpc>
                <a:spcPct val="117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 ensemble of language-cluster models adds no coverage on hard images. MAE is the only natural complementary partner.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56605" y="281136"/>
            <a:ext cx="3294385" cy="2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Q2: Statistical Confidence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1056605" y="585267"/>
            <a:ext cx="3277716" cy="2228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Forest plot — are the gains real?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88741" y="904205"/>
            <a:ext cx="4766370" cy="32577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6605" y="4234011"/>
            <a:ext cx="7030715" cy="24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Mean Q2 Δ with 95% bootstrap CIs for LoRA and Full fine-tuning across all 5 metrics (sign-normalised — rightward = improvement). Asterisks = significant after Holm correction.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1056605" y="4551164"/>
            <a:ext cx="7030715" cy="311125"/>
          </a:xfrm>
          <a:prstGeom prst="roundRect">
            <a:avLst>
              <a:gd name="adj" fmla="val 4299"/>
            </a:avLst>
          </a:prstGeom>
          <a:solidFill>
            <a:srgbClr val="B6FCB8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753" y="4674989"/>
            <a:ext cx="111398" cy="891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46299" y="4637484"/>
            <a:ext cx="7109073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CLIP and MAE gains are not anecdotal — they hold under paired Wilcoxon tests across the 139 evaluation images.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0640" y="361876"/>
            <a:ext cx="8182719" cy="750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Q3. Do individual attention heads specialise for different architectural features?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80640" y="1159371"/>
            <a:ext cx="5172075" cy="30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Scope: DINOv2, DINOv3, MAE, CLIP only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480640" y="1634356"/>
            <a:ext cx="8182719" cy="6491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CLS-token models → architecture-native per-head analysis</a:t>
            </a:r>
            <a:endParaRPr lang="en-US" sz="900" dirty="0"/>
          </a:p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SigLIP/SigLIP 2 excluded: mean-attention proxy, not architecture-native per-head</a:t>
            </a:r>
            <a:endParaRPr lang="en-US" sz="900" dirty="0"/>
          </a:p>
          <a:p>
            <a:pPr algn="l" marL="342900" indent="-342900">
              <a:lnSpc>
                <a:spcPct val="131000"/>
              </a:lnSpc>
              <a:buSzPct val="100000"/>
              <a:buChar char="•"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ResNet-50 excluded: no transformer attention heads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80640" y="2458045"/>
            <a:ext cx="2860551" cy="30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Method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480640" y="2933030"/>
            <a:ext cx="8182719" cy="378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Per-head IoU computed for all 12 heads at each layer. Heads ranked by alignment with expert boxes. Head-by-feature matrices built to test whether specific heads consistently align with specific feature types.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80640" y="3486076"/>
            <a:ext cx="2860551" cy="3004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Variants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80640" y="3961061"/>
            <a:ext cx="8639919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frozen · LoRA · full (linear probe excluded — backbone unchanged)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0640" y="4281190"/>
            <a:ext cx="8182719" cy="500360"/>
          </a:xfrm>
          <a:prstGeom prst="roundRect">
            <a:avLst>
              <a:gd name="adj" fmla="val 3603"/>
            </a:avLst>
          </a:prstGeom>
          <a:solidFill>
            <a:srgbClr val="B6D6F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45" y="4459486"/>
            <a:ext cx="150168" cy="1201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71017" y="4427562"/>
            <a:ext cx="8129439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is a descriptive head-specialisation analysis. We do not claim individual heads are causal feature detectors.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97197"/>
            <a:ext cx="45176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Q3. View 1: Head Ranking — Which Heads Align Best?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6137" y="453033"/>
            <a:ext cx="3571726" cy="2201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26531" y="2701454"/>
            <a:ext cx="138752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Per-model findings: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2126531" y="2864197"/>
            <a:ext cx="1199480" cy="950119"/>
          </a:xfrm>
          <a:prstGeom prst="roundRect">
            <a:avLst>
              <a:gd name="adj" fmla="val 979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198043" y="2935709"/>
            <a:ext cx="12324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DINOv3 — Stable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2198043" y="3051200"/>
            <a:ext cx="1056456" cy="2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layer10/head8 stays top across Frozen, LoRA, and Full; appears in top-3 on 110+ of 139 images in every condition — clearest stability case.</a:t>
            </a:r>
            <a:endParaRPr lang="en-US" sz="450" dirty="0"/>
          </a:p>
        </p:txBody>
      </p:sp>
      <p:sp>
        <p:nvSpPr>
          <p:cNvPr id="8" name="Shape 5"/>
          <p:cNvSpPr/>
          <p:nvPr/>
        </p:nvSpPr>
        <p:spPr>
          <a:xfrm>
            <a:off x="3356967" y="2864197"/>
            <a:ext cx="1199555" cy="950119"/>
          </a:xfrm>
          <a:prstGeom prst="roundRect">
            <a:avLst>
              <a:gd name="adj" fmla="val 979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428479" y="2935709"/>
            <a:ext cx="1232446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DINOv2 — Stable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3428479" y="3051200"/>
            <a:ext cx="1056531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same preserved-head pattern at lower absolute alignment.</a:t>
            </a:r>
            <a:endParaRPr lang="en-US" sz="450" dirty="0"/>
          </a:p>
        </p:txBody>
      </p:sp>
      <p:sp>
        <p:nvSpPr>
          <p:cNvPr id="11" name="Shape 8"/>
          <p:cNvSpPr/>
          <p:nvPr/>
        </p:nvSpPr>
        <p:spPr>
          <a:xfrm>
            <a:off x="4587478" y="2864197"/>
            <a:ext cx="1199480" cy="950119"/>
          </a:xfrm>
          <a:prstGeom prst="roundRect">
            <a:avLst>
              <a:gd name="adj" fmla="val 979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58990" y="2935709"/>
            <a:ext cx="1350615" cy="96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MAE — Partly reshaped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4658990" y="3051200"/>
            <a:ext cx="1056456" cy="22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layer10/head5 → layer11/head7 under LoRA → back to layer10/head5 under Full.</a:t>
            </a:r>
            <a:endParaRPr lang="en-US" sz="450" dirty="0"/>
          </a:p>
        </p:txBody>
      </p:sp>
      <p:sp>
        <p:nvSpPr>
          <p:cNvPr id="14" name="Shape 11"/>
          <p:cNvSpPr/>
          <p:nvPr/>
        </p:nvSpPr>
        <p:spPr>
          <a:xfrm>
            <a:off x="5817915" y="2864197"/>
            <a:ext cx="1199555" cy="950119"/>
          </a:xfrm>
          <a:prstGeom prst="roundRect">
            <a:avLst>
              <a:gd name="adj" fmla="val 979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889427" y="2935709"/>
            <a:ext cx="1056531" cy="193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CLIP — Reorganises substantially</a:t>
            </a:r>
            <a:endParaRPr lang="en-US" sz="600" dirty="0"/>
          </a:p>
        </p:txBody>
      </p:sp>
      <p:sp>
        <p:nvSpPr>
          <p:cNvPr id="16" name="Text 13"/>
          <p:cNvSpPr/>
          <p:nvPr/>
        </p:nvSpPr>
        <p:spPr>
          <a:xfrm>
            <a:off x="5889427" y="3148087"/>
            <a:ext cx="1056531" cy="5947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frozen best head is layer4/head5 (IoU@90 = 0.067); layer11 is weak before adaptation (max 0.034) but becomes the strongest adapted layer — best layer11 head reaches 0.084 (LoRA) and 0.105 (Full), while layer4/head5 stays near its frozen score.</a:t>
            </a:r>
            <a:endParaRPr lang="en-US" sz="450" dirty="0"/>
          </a:p>
        </p:txBody>
      </p:sp>
      <p:sp>
        <p:nvSpPr>
          <p:cNvPr id="17" name="Text 14"/>
          <p:cNvSpPr/>
          <p:nvPr/>
        </p:nvSpPr>
        <p:spPr>
          <a:xfrm>
            <a:off x="2126531" y="3860825"/>
            <a:ext cx="3226668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Quantitative sparsity (across the full 12 × 12 layer×head grid):</a:t>
            </a:r>
            <a:endParaRPr lang="en-US" sz="700" dirty="0"/>
          </a:p>
        </p:txBody>
      </p:sp>
      <p:sp>
        <p:nvSpPr>
          <p:cNvPr id="18" name="Shape 15"/>
          <p:cNvSpPr/>
          <p:nvPr/>
        </p:nvSpPr>
        <p:spPr>
          <a:xfrm>
            <a:off x="2126531" y="4023568"/>
            <a:ext cx="4890939" cy="633933"/>
          </a:xfrm>
          <a:prstGeom prst="roundRect">
            <a:avLst>
              <a:gd name="adj" fmla="val 146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193875" y="4051697"/>
            <a:ext cx="1957611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Model</a:t>
            </a:r>
            <a:endParaRPr lang="en-US" sz="450" dirty="0"/>
          </a:p>
        </p:txBody>
      </p:sp>
      <p:sp>
        <p:nvSpPr>
          <p:cNvPr id="20" name="Text 17"/>
          <p:cNvSpPr/>
          <p:nvPr/>
        </p:nvSpPr>
        <p:spPr>
          <a:xfrm>
            <a:off x="3823022" y="4051697"/>
            <a:ext cx="195522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 pair vs. median</a:t>
            </a:r>
            <a:endParaRPr lang="en-US" sz="450" dirty="0"/>
          </a:p>
        </p:txBody>
      </p:sp>
      <p:sp>
        <p:nvSpPr>
          <p:cNvPr id="21" name="Text 18"/>
          <p:cNvSpPr/>
          <p:nvPr/>
        </p:nvSpPr>
        <p:spPr>
          <a:xfrm>
            <a:off x="5449788" y="4051697"/>
            <a:ext cx="1957611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Top-5 share of total mean IoU@90</a:t>
            </a:r>
            <a:endParaRPr lang="en-US" sz="450" dirty="0"/>
          </a:p>
        </p:txBody>
      </p:sp>
      <p:sp>
        <p:nvSpPr>
          <p:cNvPr id="22" name="Text 19"/>
          <p:cNvSpPr/>
          <p:nvPr/>
        </p:nvSpPr>
        <p:spPr>
          <a:xfrm>
            <a:off x="2193875" y="4177531"/>
            <a:ext cx="1957611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</a:t>
            </a:r>
            <a:endParaRPr lang="en-US" sz="450" dirty="0"/>
          </a:p>
        </p:txBody>
      </p:sp>
      <p:sp>
        <p:nvSpPr>
          <p:cNvPr id="23" name="Text 20"/>
          <p:cNvSpPr/>
          <p:nvPr/>
        </p:nvSpPr>
        <p:spPr>
          <a:xfrm>
            <a:off x="3823022" y="4177531"/>
            <a:ext cx="195522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3.45×</a:t>
            </a:r>
            <a:endParaRPr lang="en-US" sz="450" dirty="0"/>
          </a:p>
        </p:txBody>
      </p:sp>
      <p:sp>
        <p:nvSpPr>
          <p:cNvPr id="24" name="Text 21"/>
          <p:cNvSpPr/>
          <p:nvPr/>
        </p:nvSpPr>
        <p:spPr>
          <a:xfrm>
            <a:off x="5449788" y="4177531"/>
            <a:ext cx="1957611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within 7.3–9.0% band</a:t>
            </a:r>
            <a:endParaRPr lang="en-US" sz="450" dirty="0"/>
          </a:p>
        </p:txBody>
      </p:sp>
      <p:sp>
        <p:nvSpPr>
          <p:cNvPr id="25" name="Text 22"/>
          <p:cNvSpPr/>
          <p:nvPr/>
        </p:nvSpPr>
        <p:spPr>
          <a:xfrm>
            <a:off x="2193875" y="4303365"/>
            <a:ext cx="1957611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CLIP</a:t>
            </a:r>
            <a:endParaRPr lang="en-US" sz="450" dirty="0"/>
          </a:p>
        </p:txBody>
      </p:sp>
      <p:sp>
        <p:nvSpPr>
          <p:cNvPr id="26" name="Text 23"/>
          <p:cNvSpPr/>
          <p:nvPr/>
        </p:nvSpPr>
        <p:spPr>
          <a:xfrm>
            <a:off x="3823022" y="4303365"/>
            <a:ext cx="195522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3.22×</a:t>
            </a:r>
            <a:endParaRPr lang="en-US" sz="450" dirty="0"/>
          </a:p>
        </p:txBody>
      </p:sp>
      <p:sp>
        <p:nvSpPr>
          <p:cNvPr id="27" name="Text 24"/>
          <p:cNvSpPr/>
          <p:nvPr/>
        </p:nvSpPr>
        <p:spPr>
          <a:xfrm>
            <a:off x="5449788" y="4303365"/>
            <a:ext cx="1957611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(≈ 2× the 3.5% uniform baseline)</a:t>
            </a:r>
            <a:endParaRPr lang="en-US" sz="450" dirty="0"/>
          </a:p>
        </p:txBody>
      </p:sp>
      <p:sp>
        <p:nvSpPr>
          <p:cNvPr id="28" name="Text 25"/>
          <p:cNvSpPr/>
          <p:nvPr/>
        </p:nvSpPr>
        <p:spPr>
          <a:xfrm>
            <a:off x="2193875" y="4429199"/>
            <a:ext cx="1957611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MAE</a:t>
            </a:r>
            <a:endParaRPr lang="en-US" sz="450" dirty="0"/>
          </a:p>
        </p:txBody>
      </p:sp>
      <p:sp>
        <p:nvSpPr>
          <p:cNvPr id="29" name="Text 26"/>
          <p:cNvSpPr/>
          <p:nvPr/>
        </p:nvSpPr>
        <p:spPr>
          <a:xfrm>
            <a:off x="3823022" y="4429199"/>
            <a:ext cx="195522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2.92×</a:t>
            </a:r>
            <a:endParaRPr lang="en-US" sz="450" dirty="0"/>
          </a:p>
        </p:txBody>
      </p:sp>
      <p:sp>
        <p:nvSpPr>
          <p:cNvPr id="30" name="Text 27"/>
          <p:cNvSpPr/>
          <p:nvPr/>
        </p:nvSpPr>
        <p:spPr>
          <a:xfrm>
            <a:off x="5449788" y="4429199"/>
            <a:ext cx="1957611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</a:t>
            </a:r>
            <a:endParaRPr lang="en-US" sz="450" dirty="0"/>
          </a:p>
        </p:txBody>
      </p:sp>
      <p:sp>
        <p:nvSpPr>
          <p:cNvPr id="31" name="Text 28"/>
          <p:cNvSpPr/>
          <p:nvPr/>
        </p:nvSpPr>
        <p:spPr>
          <a:xfrm>
            <a:off x="2193875" y="4555034"/>
            <a:ext cx="1957611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DINOv2</a:t>
            </a:r>
            <a:endParaRPr lang="en-US" sz="450" dirty="0"/>
          </a:p>
        </p:txBody>
      </p:sp>
      <p:sp>
        <p:nvSpPr>
          <p:cNvPr id="32" name="Text 29"/>
          <p:cNvSpPr/>
          <p:nvPr/>
        </p:nvSpPr>
        <p:spPr>
          <a:xfrm>
            <a:off x="3823022" y="4555034"/>
            <a:ext cx="195522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2.69×</a:t>
            </a:r>
            <a:endParaRPr lang="en-US" sz="450" dirty="0"/>
          </a:p>
        </p:txBody>
      </p:sp>
      <p:sp>
        <p:nvSpPr>
          <p:cNvPr id="33" name="Text 30"/>
          <p:cNvSpPr/>
          <p:nvPr/>
        </p:nvSpPr>
        <p:spPr>
          <a:xfrm>
            <a:off x="5449788" y="4555034"/>
            <a:ext cx="1957611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</a:t>
            </a:r>
            <a:endParaRPr lang="en-US" sz="450" dirty="0"/>
          </a:p>
        </p:txBody>
      </p:sp>
      <p:sp>
        <p:nvSpPr>
          <p:cNvPr id="34" name="Shape 31"/>
          <p:cNvSpPr/>
          <p:nvPr/>
        </p:nvSpPr>
        <p:spPr>
          <a:xfrm>
            <a:off x="2126531" y="4692328"/>
            <a:ext cx="4890939" cy="253975"/>
          </a:xfrm>
          <a:prstGeom prst="roundRect">
            <a:avLst>
              <a:gd name="adj" fmla="val 3663"/>
            </a:avLst>
          </a:prstGeom>
          <a:solidFill>
            <a:srgbClr val="B6D6FC"/>
          </a:solidFill>
          <a:ln/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518" y="4772695"/>
            <a:ext cx="77465" cy="61987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2327970" y="4738762"/>
            <a:ext cx="4627513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Top-5 pairs together hold 7.3%–9.0% of total mean IoU@90 across all 144 pairs — roughly 2× what they would hold under uniform spread (3.5%). This is the quantitative content of "sparse".</a:t>
            </a:r>
            <a:endParaRPr lang="en-US" sz="4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2298" y="239613"/>
            <a:ext cx="5456337" cy="254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Q3 View 2a: Head-Feature Matrix (DINOv3 anchor)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362298" y="515317"/>
            <a:ext cx="3395663" cy="1526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Linking the ranking head to its strongest feature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2298" y="808062"/>
            <a:ext cx="3452589" cy="38678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02486" y="796082"/>
            <a:ext cx="2183904" cy="215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same layer10/head8 that leads the DINOv3 ranking also carries the selected matrix cell: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5602486" y="1059805"/>
            <a:ext cx="2183904" cy="360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Columned Portal — IoU@90 = 0.215 (n = 15)</a:t>
            </a:r>
            <a:endParaRPr lang="en-US" sz="6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Round Arch Portal — 0.204</a:t>
            </a:r>
            <a:endParaRPr lang="en-US" sz="600" dirty="0"/>
          </a:p>
          <a:p>
            <a:pPr algn="l" marL="342900" indent="-342900">
              <a:lnSpc>
                <a:spcPct val="110000"/>
              </a:lnSpc>
              <a:buSzPct val="100000"/>
              <a:buChar char="•"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Ornate Portal — 0.181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5602486" y="1468710"/>
            <a:ext cx="2183904" cy="323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6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links the ranking evidence to the feature evidence: the dominant head is not only strong overall — it is strongest on portal-scale structure.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1362298" y="4795986"/>
            <a:ext cx="6876604" cy="1078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endParaRPr lang="en-US" sz="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7261" y="219001"/>
            <a:ext cx="477329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Q3 View 2b: Top vs. Bottom Features Across Models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1897261" y="445740"/>
            <a:ext cx="4207669" cy="1695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Strongest features are structural; failures are consistent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27586" y="670843"/>
            <a:ext cx="3488754" cy="23726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97261" y="3085207"/>
            <a:ext cx="5806678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 each scoped model's frozen IoU@90 dominant head, top-3 and bottom-3 features (≥3 annotations):</a:t>
            </a:r>
            <a:endParaRPr lang="en-US" sz="500" dirty="0"/>
          </a:p>
        </p:txBody>
      </p:sp>
      <p:sp>
        <p:nvSpPr>
          <p:cNvPr id="6" name="Shape 3"/>
          <p:cNvSpPr/>
          <p:nvPr/>
        </p:nvSpPr>
        <p:spPr>
          <a:xfrm>
            <a:off x="1897261" y="3210818"/>
            <a:ext cx="5349478" cy="718393"/>
          </a:xfrm>
          <a:prstGeom prst="roundRect">
            <a:avLst>
              <a:gd name="adj" fmla="val 1416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69815" y="3242593"/>
            <a:ext cx="1654225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Model · Head</a:t>
            </a:r>
            <a:endParaRPr lang="en-US" sz="500" dirty="0"/>
          </a:p>
        </p:txBody>
      </p:sp>
      <p:sp>
        <p:nvSpPr>
          <p:cNvPr id="8" name="Text 5"/>
          <p:cNvSpPr/>
          <p:nvPr/>
        </p:nvSpPr>
        <p:spPr>
          <a:xfrm>
            <a:off x="3307184" y="3242593"/>
            <a:ext cx="2452836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Strongest</a:t>
            </a:r>
            <a:endParaRPr lang="en-US" sz="500" dirty="0"/>
          </a:p>
        </p:txBody>
      </p:sp>
      <p:sp>
        <p:nvSpPr>
          <p:cNvPr id="9" name="Text 6"/>
          <p:cNvSpPr/>
          <p:nvPr/>
        </p:nvSpPr>
        <p:spPr>
          <a:xfrm>
            <a:off x="5443165" y="3242593"/>
            <a:ext cx="218822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Weakest</a:t>
            </a:r>
            <a:endParaRPr lang="en-US" sz="500" dirty="0"/>
          </a:p>
        </p:txBody>
      </p:sp>
      <p:sp>
        <p:nvSpPr>
          <p:cNvPr id="10" name="Text 7"/>
          <p:cNvSpPr/>
          <p:nvPr/>
        </p:nvSpPr>
        <p:spPr>
          <a:xfrm>
            <a:off x="1969815" y="3385319"/>
            <a:ext cx="1654225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 L10/H8</a:t>
            </a:r>
            <a:endParaRPr lang="en-US" sz="500" dirty="0"/>
          </a:p>
        </p:txBody>
      </p:sp>
      <p:sp>
        <p:nvSpPr>
          <p:cNvPr id="11" name="Text 8"/>
          <p:cNvSpPr/>
          <p:nvPr/>
        </p:nvSpPr>
        <p:spPr>
          <a:xfrm>
            <a:off x="3307184" y="3385319"/>
            <a:ext cx="2452836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Columned Portal, Round Arch Portal, Ornate Portal</a:t>
            </a:r>
            <a:endParaRPr lang="en-US" sz="500" dirty="0"/>
          </a:p>
        </p:txBody>
      </p:sp>
      <p:sp>
        <p:nvSpPr>
          <p:cNvPr id="12" name="Text 9"/>
          <p:cNvSpPr/>
          <p:nvPr/>
        </p:nvSpPr>
        <p:spPr>
          <a:xfrm>
            <a:off x="5443165" y="3385319"/>
            <a:ext cx="218822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Blind Tracery, Crocket, Tabernacle (≈ 0)</a:t>
            </a:r>
            <a:endParaRPr lang="en-US" sz="500" dirty="0"/>
          </a:p>
        </p:txBody>
      </p:sp>
      <p:sp>
        <p:nvSpPr>
          <p:cNvPr id="13" name="Text 10"/>
          <p:cNvSpPr/>
          <p:nvPr/>
        </p:nvSpPr>
        <p:spPr>
          <a:xfrm>
            <a:off x="1969815" y="3528045"/>
            <a:ext cx="1654225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DINOv2 L11/H11</a:t>
            </a:r>
            <a:endParaRPr lang="en-US" sz="500" dirty="0"/>
          </a:p>
        </p:txBody>
      </p:sp>
      <p:sp>
        <p:nvSpPr>
          <p:cNvPr id="14" name="Text 11"/>
          <p:cNvSpPr/>
          <p:nvPr/>
        </p:nvSpPr>
        <p:spPr>
          <a:xfrm>
            <a:off x="3307184" y="3528045"/>
            <a:ext cx="2452836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Portal-class (same top end)</a:t>
            </a:r>
            <a:endParaRPr lang="en-US" sz="500" dirty="0"/>
          </a:p>
        </p:txBody>
      </p:sp>
      <p:sp>
        <p:nvSpPr>
          <p:cNvPr id="15" name="Text 12"/>
          <p:cNvSpPr/>
          <p:nvPr/>
        </p:nvSpPr>
        <p:spPr>
          <a:xfrm>
            <a:off x="5443165" y="3528045"/>
            <a:ext cx="218822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Same small-detail boundary</a:t>
            </a:r>
            <a:endParaRPr lang="en-US" sz="500" dirty="0"/>
          </a:p>
        </p:txBody>
      </p:sp>
      <p:sp>
        <p:nvSpPr>
          <p:cNvPr id="16" name="Text 13"/>
          <p:cNvSpPr/>
          <p:nvPr/>
        </p:nvSpPr>
        <p:spPr>
          <a:xfrm>
            <a:off x="1969815" y="3670771"/>
            <a:ext cx="1654225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MAE L10/H5</a:t>
            </a:r>
            <a:endParaRPr lang="en-US" sz="500" dirty="0"/>
          </a:p>
        </p:txBody>
      </p:sp>
      <p:sp>
        <p:nvSpPr>
          <p:cNvPr id="17" name="Text 14"/>
          <p:cNvSpPr/>
          <p:nvPr/>
        </p:nvSpPr>
        <p:spPr>
          <a:xfrm>
            <a:off x="3307184" y="3670771"/>
            <a:ext cx="2452836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Large facade parts + Wimperg (3rd)</a:t>
            </a:r>
            <a:endParaRPr lang="en-US" sz="500" dirty="0"/>
          </a:p>
        </p:txBody>
      </p:sp>
      <p:sp>
        <p:nvSpPr>
          <p:cNvPr id="18" name="Text 15"/>
          <p:cNvSpPr/>
          <p:nvPr/>
        </p:nvSpPr>
        <p:spPr>
          <a:xfrm>
            <a:off x="5443165" y="3670771"/>
            <a:ext cx="218822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</a:t>
            </a:r>
            <a:endParaRPr lang="en-US" sz="500" dirty="0"/>
          </a:p>
        </p:txBody>
      </p:sp>
      <p:sp>
        <p:nvSpPr>
          <p:cNvPr id="19" name="Text 16"/>
          <p:cNvSpPr/>
          <p:nvPr/>
        </p:nvSpPr>
        <p:spPr>
          <a:xfrm>
            <a:off x="1969815" y="3813497"/>
            <a:ext cx="1654225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CLIP L4/H5</a:t>
            </a:r>
            <a:endParaRPr lang="en-US" sz="500" dirty="0"/>
          </a:p>
        </p:txBody>
      </p:sp>
      <p:sp>
        <p:nvSpPr>
          <p:cNvPr id="20" name="Text 17"/>
          <p:cNvSpPr/>
          <p:nvPr/>
        </p:nvSpPr>
        <p:spPr>
          <a:xfrm>
            <a:off x="3307184" y="3813497"/>
            <a:ext cx="2452836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Portal-class + Belt Course</a:t>
            </a:r>
            <a:endParaRPr lang="en-US" sz="500" dirty="0"/>
          </a:p>
        </p:txBody>
      </p:sp>
      <p:sp>
        <p:nvSpPr>
          <p:cNvPr id="21" name="Text 18"/>
          <p:cNvSpPr/>
          <p:nvPr/>
        </p:nvSpPr>
        <p:spPr>
          <a:xfrm>
            <a:off x="5443165" y="3813497"/>
            <a:ext cx="2188220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—</a:t>
            </a:r>
            <a:endParaRPr lang="en-US" sz="500" dirty="0"/>
          </a:p>
        </p:txBody>
      </p:sp>
      <p:sp>
        <p:nvSpPr>
          <p:cNvPr id="22" name="Text 19"/>
          <p:cNvSpPr/>
          <p:nvPr/>
        </p:nvSpPr>
        <p:spPr>
          <a:xfrm>
            <a:off x="1897261" y="3970883"/>
            <a:ext cx="5349478" cy="2777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MAE → Wimperg fits the Q2 finding that MAE responds to compact geometric forms</a:t>
            </a:r>
            <a:endParaRPr lang="en-US" sz="5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CLIP → Belt Course suggests feature extent and clean geometry matter, not only semantic category names</a:t>
            </a:r>
            <a:endParaRPr lang="en-US" sz="500" dirty="0"/>
          </a:p>
          <a:p>
            <a:pPr algn="l" marL="342900" indent="-342900">
              <a:lnSpc>
                <a:spcPct val="103000"/>
              </a:lnSpc>
              <a:buSzPct val="100000"/>
              <a:buChar char="•"/>
            </a:pPr>
            <a:r>
              <a:rPr lang="en-US" sz="5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Failures aren't random — across families, weak features are small, thin, repeated, or visually entangled with surrounding masonry</a:t>
            </a:r>
            <a:endParaRPr lang="en-US" sz="500" dirty="0"/>
          </a:p>
        </p:txBody>
      </p:sp>
      <p:sp>
        <p:nvSpPr>
          <p:cNvPr id="23" name="Shape 20"/>
          <p:cNvSpPr/>
          <p:nvPr/>
        </p:nvSpPr>
        <p:spPr>
          <a:xfrm>
            <a:off x="1897261" y="4290268"/>
            <a:ext cx="5349478" cy="205085"/>
          </a:xfrm>
          <a:prstGeom prst="roundRect">
            <a:avLst>
              <a:gd name="adj" fmla="val 4962"/>
            </a:avLst>
          </a:prstGeom>
          <a:solidFill>
            <a:srgbClr val="EDD5C4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052" y="4377482"/>
            <a:ext cx="84758" cy="67791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2117601" y="4344219"/>
            <a:ext cx="5518547" cy="839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Safe claim: dominant heads expose spatial patterns compatible with expert-marked structural parts — not exact ornament detectors.</a:t>
            </a:r>
            <a:endParaRPr lang="en-US" sz="500" dirty="0"/>
          </a:p>
        </p:txBody>
      </p:sp>
      <p:sp>
        <p:nvSpPr>
          <p:cNvPr id="26" name="Shape 22"/>
          <p:cNvSpPr/>
          <p:nvPr/>
        </p:nvSpPr>
        <p:spPr>
          <a:xfrm>
            <a:off x="1897261" y="4537025"/>
            <a:ext cx="5349478" cy="387400"/>
          </a:xfrm>
          <a:prstGeom prst="roundRect">
            <a:avLst>
              <a:gd name="adj" fmla="val 2627"/>
            </a:avLst>
          </a:prstGeom>
          <a:solidFill>
            <a:srgbClr val="F2F2F2"/>
          </a:solidFill>
          <a:ln/>
        </p:spPr>
      </p:sp>
      <p:sp>
        <p:nvSpPr>
          <p:cNvPr id="27" name="Shape 23"/>
          <p:cNvSpPr/>
          <p:nvPr/>
        </p:nvSpPr>
        <p:spPr>
          <a:xfrm>
            <a:off x="1893912" y="4537025"/>
            <a:ext cx="5356175" cy="387400"/>
          </a:xfrm>
          <a:prstGeom prst="roundRect">
            <a:avLst>
              <a:gd name="adj" fmla="val 2627"/>
            </a:avLst>
          </a:prstGeom>
          <a:solidFill>
            <a:srgbClr val="F2F2F2"/>
          </a:solidFill>
          <a:ln/>
        </p:spPr>
      </p:sp>
      <p:sp>
        <p:nvSpPr>
          <p:cNvPr id="28" name="Text 24"/>
          <p:cNvSpPr/>
          <p:nvPr/>
        </p:nvSpPr>
        <p:spPr>
          <a:xfrm>
            <a:off x="1978670" y="4604817"/>
            <a:ext cx="5186660" cy="251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500" dirty="0">
                <a:solidFill>
                  <a:srgbClr val="24292E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**Caveat to state aloud — metric geometry**: IoU@90 keeps a fixed top-10% attention mask and scores it against a variable-size expert mask. For thin/repeated ornamentation (Crocket, Fleuron, Blind Tracery), the achievable IoU@90 is mechanically capped regardless of where attention lands. Part of the weak-feature shortfall is metric geometry, not head attribution — threshold-free Coverage would help separate the two effects.</a:t>
            </a:r>
            <a:endParaRPr lang="en-US" sz="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26531" y="170557"/>
            <a:ext cx="489093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Q3. View 3: Frozen-to-Adapted Delta — How Adaptation Reshapes Heads</a:t>
            </a:r>
            <a:endParaRPr lang="en-US" sz="1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2042" y="620241"/>
            <a:ext cx="2899842" cy="189785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126531" y="2552923"/>
            <a:ext cx="5348139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Sharper follow-up: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when adaptation changes the dominant head, does the strongest signal stay or move?</a:t>
            </a:r>
            <a:endParaRPr lang="en-US" sz="450" dirty="0"/>
          </a:p>
        </p:txBody>
      </p:sp>
      <p:sp>
        <p:nvSpPr>
          <p:cNvPr id="5" name="Shape 2"/>
          <p:cNvSpPr/>
          <p:nvPr/>
        </p:nvSpPr>
        <p:spPr>
          <a:xfrm>
            <a:off x="2126531" y="2662089"/>
            <a:ext cx="4890939" cy="356220"/>
          </a:xfrm>
          <a:prstGeom prst="roundRect">
            <a:avLst>
              <a:gd name="adj" fmla="val 2612"/>
            </a:avLst>
          </a:prstGeom>
          <a:solidFill>
            <a:srgbClr val="EDD5C4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518" y="2742456"/>
            <a:ext cx="77465" cy="6198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27970" y="2708523"/>
            <a:ext cx="508471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Definition: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expert-aligned signal = the selected head's normalised CLS-to-patch heatmap scored against expert boxes. </a:t>
            </a:r>
            <a:endParaRPr lang="en-US" sz="450" dirty="0"/>
          </a:p>
        </p:txBody>
      </p:sp>
      <p:sp>
        <p:nvSpPr>
          <p:cNvPr id="8" name="Text 4"/>
          <p:cNvSpPr/>
          <p:nvPr/>
        </p:nvSpPr>
        <p:spPr>
          <a:xfrm>
            <a:off x="2327970" y="2810768"/>
            <a:ext cx="4627513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 IoU@90, the pipeline keeps the top 10% of heatmap pixels and compares against the expert-box union; the strongest head is the one with the highest mean IoU@90 across the 139 images for that (layer, variant, metric).</a:t>
            </a:r>
            <a:endParaRPr lang="en-US" sz="450" dirty="0"/>
          </a:p>
        </p:txBody>
      </p:sp>
      <p:sp>
        <p:nvSpPr>
          <p:cNvPr id="9" name="Text 5"/>
          <p:cNvSpPr/>
          <p:nvPr/>
        </p:nvSpPr>
        <p:spPr>
          <a:xfrm>
            <a:off x="2126531" y="3064818"/>
            <a:ext cx="1883941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Family-specific answer: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2126531" y="3266331"/>
            <a:ext cx="2429991" cy="500881"/>
          </a:xfrm>
          <a:prstGeom prst="roundRect">
            <a:avLst>
              <a:gd name="adj" fmla="val 1857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198043" y="3337843"/>
            <a:ext cx="1387525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DINO — Stable</a:t>
            </a:r>
            <a:endParaRPr lang="en-US" sz="700" dirty="0"/>
          </a:p>
        </p:txBody>
      </p:sp>
      <p:sp>
        <p:nvSpPr>
          <p:cNvPr id="12" name="Text 8"/>
          <p:cNvSpPr/>
          <p:nvPr/>
        </p:nvSpPr>
        <p:spPr>
          <a:xfrm>
            <a:off x="2198043" y="3472681"/>
            <a:ext cx="2286967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 layer10/head8 and DINOv2 layer11/head11 remain strongest across Frozen, LoRA, Full.</a:t>
            </a:r>
            <a:endParaRPr lang="en-US" sz="450" dirty="0"/>
          </a:p>
        </p:txBody>
      </p:sp>
      <p:sp>
        <p:nvSpPr>
          <p:cNvPr id="13" name="Shape 9"/>
          <p:cNvSpPr/>
          <p:nvPr/>
        </p:nvSpPr>
        <p:spPr>
          <a:xfrm>
            <a:off x="4587478" y="3266331"/>
            <a:ext cx="2429991" cy="500881"/>
          </a:xfrm>
          <a:prstGeom prst="roundRect">
            <a:avLst>
              <a:gd name="adj" fmla="val 1857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658990" y="3337843"/>
            <a:ext cx="1406203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MAE — Intermediate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4658990" y="3472681"/>
            <a:ext cx="2286967" cy="22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Frozen and Full both favour layer10/head5; LoRA shifts to layer11/head7 — parameter-efficient adaptation can move the dominant signal, but not a CLIP-style rewrite.</a:t>
            </a:r>
            <a:endParaRPr lang="en-US" sz="450" dirty="0"/>
          </a:p>
        </p:txBody>
      </p:sp>
      <p:sp>
        <p:nvSpPr>
          <p:cNvPr id="16" name="Shape 12"/>
          <p:cNvSpPr/>
          <p:nvPr/>
        </p:nvSpPr>
        <p:spPr>
          <a:xfrm>
            <a:off x="2126531" y="3798168"/>
            <a:ext cx="2429991" cy="542776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198043" y="3869680"/>
            <a:ext cx="2286967" cy="232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CLIP LoRA — New top head without erasing frozen pattern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2198043" y="4120753"/>
            <a:ext cx="2286967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Within layer11, H11 promoted #6 → #1; frozen-best H4 only falls to #3, score 0.080 vs. 0.084.</a:t>
            </a:r>
            <a:endParaRPr lang="en-US" sz="450" dirty="0"/>
          </a:p>
        </p:txBody>
      </p:sp>
      <p:sp>
        <p:nvSpPr>
          <p:cNvPr id="19" name="Shape 15"/>
          <p:cNvSpPr/>
          <p:nvPr/>
        </p:nvSpPr>
        <p:spPr>
          <a:xfrm>
            <a:off x="4587478" y="3798168"/>
            <a:ext cx="2429991" cy="542776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9525">
            <a:solidFill>
              <a:srgbClr val="D8D4D4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658990" y="3869680"/>
            <a:ext cx="1754386" cy="11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CLIP Full — Stronger rewrite</a:t>
            </a:r>
            <a:endParaRPr lang="en-US" sz="700" dirty="0"/>
          </a:p>
        </p:txBody>
      </p:sp>
      <p:sp>
        <p:nvSpPr>
          <p:cNvPr id="21" name="Text 17"/>
          <p:cNvSpPr/>
          <p:nvPr/>
        </p:nvSpPr>
        <p:spPr>
          <a:xfrm>
            <a:off x="4658990" y="4004518"/>
            <a:ext cx="2744167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Within layer11, H3 moves #8 → #1, H8 moves #7 → #2, H4 drops to #4.</a:t>
            </a:r>
            <a:endParaRPr lang="en-US" sz="450" dirty="0"/>
          </a:p>
        </p:txBody>
      </p:sp>
      <p:sp>
        <p:nvSpPr>
          <p:cNvPr id="22" name="Text 18"/>
          <p:cNvSpPr/>
          <p:nvPr/>
        </p:nvSpPr>
        <p:spPr>
          <a:xfrm>
            <a:off x="2126531" y="4375770"/>
            <a:ext cx="4890939" cy="14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CLIP synthesis:</a:t>
            </a:r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adaptation strengthens expert alignment in layer11 (where frozen CLIP is weak, 0.034 max) and reorganises the within-layer ranking of those newly strengthened heads.</a:t>
            </a:r>
            <a:endParaRPr lang="en-US" sz="450" dirty="0"/>
          </a:p>
        </p:txBody>
      </p:sp>
      <p:sp>
        <p:nvSpPr>
          <p:cNvPr id="23" name="Shape 19"/>
          <p:cNvSpPr/>
          <p:nvPr/>
        </p:nvSpPr>
        <p:spPr>
          <a:xfrm>
            <a:off x="2126531" y="4559275"/>
            <a:ext cx="4890939" cy="430560"/>
          </a:xfrm>
          <a:prstGeom prst="roundRect">
            <a:avLst>
              <a:gd name="adj" fmla="val 2161"/>
            </a:avLst>
          </a:prstGeom>
          <a:solidFill>
            <a:srgbClr val="B6D6FC"/>
          </a:solidFill>
          <a:ln/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518" y="4639642"/>
            <a:ext cx="77465" cy="6198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327970" y="4605710"/>
            <a:ext cx="5084713" cy="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Connecting Q3 back to Q1 and Q2: </a:t>
            </a:r>
            <a:endParaRPr lang="en-US" sz="450" dirty="0"/>
          </a:p>
        </p:txBody>
      </p:sp>
      <p:sp>
        <p:nvSpPr>
          <p:cNvPr id="26" name="Text 21"/>
          <p:cNvSpPr/>
          <p:nvPr/>
        </p:nvSpPr>
        <p:spPr>
          <a:xfrm>
            <a:off x="2327970" y="4707954"/>
            <a:ext cx="4627513" cy="223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 already aligns well before fine-tuning, so adaptation leaves its strongest heads mostly unchanged. CLIP and MAE have more room to move — after adaptation, the best-aligned attention comes from different heads, not just the same head with a higher score. Q3 gives a head-level explanation for the Q2 result.</a:t>
            </a:r>
            <a:endParaRPr lang="en-US" sz="4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870174"/>
            <a:ext cx="438410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Conclusions &amp; Takeaways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96119" y="2443758"/>
            <a:ext cx="2634555" cy="829494"/>
          </a:xfrm>
          <a:prstGeom prst="roundRect">
            <a:avLst>
              <a:gd name="adj" fmla="val 2243"/>
            </a:avLst>
          </a:prstGeom>
          <a:solidFill>
            <a:srgbClr val="F9F7F7"/>
          </a:solidFill>
          <a:ln/>
        </p:spPr>
      </p:sp>
      <p:sp>
        <p:nvSpPr>
          <p:cNvPr id="4" name="Text 2"/>
          <p:cNvSpPr/>
          <p:nvPr/>
        </p:nvSpPr>
        <p:spPr>
          <a:xfrm>
            <a:off x="620092" y="2567732"/>
            <a:ext cx="238660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Q1 — Frozen alignment exists, but is model-family dependent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54648" y="2443758"/>
            <a:ext cx="2634630" cy="829494"/>
          </a:xfrm>
          <a:prstGeom prst="roundRect">
            <a:avLst>
              <a:gd name="adj" fmla="val 2243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3378622" y="2567732"/>
            <a:ext cx="2386682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Q2 — Fine-tuning's effect is mediated by pretraining, not just strategy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13252" y="2443758"/>
            <a:ext cx="2634555" cy="829494"/>
          </a:xfrm>
          <a:prstGeom prst="roundRect">
            <a:avLst>
              <a:gd name="adj" fmla="val 2243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6137225" y="2567732"/>
            <a:ext cx="2386608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Q3 — Heads show descriptive specialisation; the dominant set shifts under adaptation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8379" y="335756"/>
            <a:ext cx="3509888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We Found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88379" y="765349"/>
            <a:ext cx="4238402" cy="3052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Three questions, three answers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488379" y="1250826"/>
            <a:ext cx="2642295" cy="3265587"/>
          </a:xfrm>
          <a:prstGeom prst="roundRect">
            <a:avLst>
              <a:gd name="adj" fmla="val 259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4092" y="1250826"/>
            <a:ext cx="57150" cy="3265587"/>
          </a:xfrm>
          <a:prstGeom prst="roundRect">
            <a:avLst>
              <a:gd name="adj" fmla="val 32049"/>
            </a:avLst>
          </a:prstGeom>
          <a:solidFill>
            <a:srgbClr val="3E2513"/>
          </a:solidFill>
          <a:ln/>
        </p:spPr>
      </p:sp>
      <p:sp>
        <p:nvSpPr>
          <p:cNvPr id="6" name="Text 4"/>
          <p:cNvSpPr/>
          <p:nvPr/>
        </p:nvSpPr>
        <p:spPr>
          <a:xfrm>
            <a:off x="667569" y="1387153"/>
            <a:ext cx="2326779" cy="3814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Q1 — Frozen alignment exists, but is model-family dependent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67569" y="1840706"/>
            <a:ext cx="2326779" cy="1356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DINOv3 leads the benchmark and is the only frozen model to clear all calibration baselines on all continuous metrics. Frozen SSL attention is not a generic property — self-distillation with Gram anchoring produces a qualitatively different spatial prior.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50853" y="1250826"/>
            <a:ext cx="2642295" cy="3265587"/>
          </a:xfrm>
          <a:prstGeom prst="roundRect">
            <a:avLst>
              <a:gd name="adj" fmla="val 259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36565" y="1250826"/>
            <a:ext cx="57150" cy="3265587"/>
          </a:xfrm>
          <a:prstGeom prst="roundRect">
            <a:avLst>
              <a:gd name="adj" fmla="val 32049"/>
            </a:avLst>
          </a:prstGeom>
          <a:solidFill>
            <a:srgbClr val="3E2513"/>
          </a:solidFill>
          <a:ln/>
        </p:spPr>
      </p:sp>
      <p:sp>
        <p:nvSpPr>
          <p:cNvPr id="10" name="Text 8"/>
          <p:cNvSpPr/>
          <p:nvPr/>
        </p:nvSpPr>
        <p:spPr>
          <a:xfrm>
            <a:off x="3430042" y="1387153"/>
            <a:ext cx="2326779" cy="572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Q2 — Fine-tuning's effect is mediated by pretraining, not just strategy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30042" y="2031429"/>
            <a:ext cx="2326779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CLIP's gain is linguistic: it unlocks attention on features densely described in web text. 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30042" y="2685083"/>
            <a:ext cx="2326779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MAE's gain is geometric: it redirects to compact, style-exclusive pediment forms. 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30042" y="3338736"/>
            <a:ext cx="2326779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DINO's near-zero Δ is a preservation result.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430042" y="3798540"/>
            <a:ext cx="2326779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No single strategy wins everywhere — the right combination depends on what the task's diagnostic evidence requires.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13326" y="1250826"/>
            <a:ext cx="2642295" cy="3265587"/>
          </a:xfrm>
          <a:prstGeom prst="roundRect">
            <a:avLst>
              <a:gd name="adj" fmla="val 2595"/>
            </a:avLst>
          </a:prstGeom>
          <a:solidFill>
            <a:srgbClr val="FFFFFF"/>
          </a:solidFill>
          <a:ln w="14288">
            <a:solidFill>
              <a:srgbClr val="D8D4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99038" y="1250826"/>
            <a:ext cx="57150" cy="3265587"/>
          </a:xfrm>
          <a:prstGeom prst="roundRect">
            <a:avLst>
              <a:gd name="adj" fmla="val 32049"/>
            </a:avLst>
          </a:prstGeom>
          <a:solidFill>
            <a:srgbClr val="3E2513"/>
          </a:solidFill>
          <a:ln/>
        </p:spPr>
      </p:sp>
      <p:sp>
        <p:nvSpPr>
          <p:cNvPr id="17" name="Text 15"/>
          <p:cNvSpPr/>
          <p:nvPr/>
        </p:nvSpPr>
        <p:spPr>
          <a:xfrm>
            <a:off x="6192515" y="1387153"/>
            <a:ext cx="2326779" cy="572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Q3 — Heads show descriptive specialisation; the dominant set shifts under adaptation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92515" y="2031429"/>
            <a:ext cx="2326779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Per-head alignment is sparse and late-layer dominant. Fine-tuning reorganises which heads carry expert-aligned structure.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102147"/>
            <a:ext cx="3617640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Practical Implication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39255"/>
            <a:ext cx="8151763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Model selection for domain adaptation should not be guided by accuracy alone.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96119" y="2208981"/>
            <a:ext cx="7358955" cy="2325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Match the pretraining prior to what the task's diagnostic evidence requires: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96119" y="2627561"/>
            <a:ext cx="2634555" cy="843335"/>
          </a:xfrm>
          <a:prstGeom prst="roundRect">
            <a:avLst>
              <a:gd name="adj" fmla="val 2206"/>
            </a:avLst>
          </a:prstGeom>
          <a:solidFill>
            <a:srgbClr val="F9F7F7"/>
          </a:solidFill>
          <a:ln/>
        </p:spPr>
      </p:sp>
      <p:sp>
        <p:nvSpPr>
          <p:cNvPr id="6" name="Text 4"/>
          <p:cNvSpPr/>
          <p:nvPr/>
        </p:nvSpPr>
        <p:spPr>
          <a:xfrm>
            <a:off x="620092" y="2751534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If evidence is spatially coherent and structured → DINOv3 frozen may already be sufficient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54648" y="2627561"/>
            <a:ext cx="2634630" cy="843335"/>
          </a:xfrm>
          <a:prstGeom prst="roundRect">
            <a:avLst>
              <a:gd name="adj" fmla="val 2206"/>
            </a:avLst>
          </a:prstGeom>
          <a:solidFill>
            <a:srgbClr val="F9F7F7"/>
          </a:solidFill>
          <a:ln/>
        </p:spPr>
      </p:sp>
      <p:sp>
        <p:nvSpPr>
          <p:cNvPr id="8" name="Text 6"/>
          <p:cNvSpPr/>
          <p:nvPr/>
        </p:nvSpPr>
        <p:spPr>
          <a:xfrm>
            <a:off x="3378622" y="2751534"/>
            <a:ext cx="23866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If evidence is linguistically well-described → CLIP + Full fine-tuning unlocks the largest gain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013252" y="2627561"/>
            <a:ext cx="2634555" cy="843335"/>
          </a:xfrm>
          <a:prstGeom prst="roundRect">
            <a:avLst>
              <a:gd name="adj" fmla="val 2206"/>
            </a:avLst>
          </a:prstGeom>
          <a:solidFill>
            <a:srgbClr val="F9F7F7"/>
          </a:solidFill>
          <a:ln/>
        </p:spPr>
      </p:sp>
      <p:sp>
        <p:nvSpPr>
          <p:cNvPr id="10" name="Text 8"/>
          <p:cNvSpPr/>
          <p:nvPr/>
        </p:nvSpPr>
        <p:spPr>
          <a:xfrm>
            <a:off x="6137225" y="2751534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If evidence is geometrically compact and style-exclusive → MAE covers a complementary image subset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96119" y="3594869"/>
            <a:ext cx="8151688" cy="446410"/>
          </a:xfrm>
          <a:prstGeom prst="roundRect">
            <a:avLst>
              <a:gd name="adj" fmla="val 4168"/>
            </a:avLst>
          </a:prstGeom>
          <a:solidFill>
            <a:srgbClr val="F9F7F7"/>
          </a:solidFill>
          <a:ln/>
        </p:spPr>
      </p:sp>
      <p:sp>
        <p:nvSpPr>
          <p:cNvPr id="12" name="Text 10"/>
          <p:cNvSpPr/>
          <p:nvPr/>
        </p:nvSpPr>
        <p:spPr>
          <a:xfrm>
            <a:off x="620092" y="3718843"/>
            <a:ext cx="8360941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For coverage across hard images → MAE + language-cluster ensemble (not language-cluster alone)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643" y="292224"/>
            <a:ext cx="8100640" cy="4558978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377976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DEMO</a:t>
            </a:r>
            <a:endParaRPr lang="en-US" sz="2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2005905"/>
            <a:ext cx="35583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2443014"/>
            <a:ext cx="7682061" cy="310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Do Self-Supervised Vision Models Learn What Experts See?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496119" y="2939132"/>
            <a:ext cx="86089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5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Sometimes. It depends on how they were trained — and what the task asks them to look at.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2026-05-16T14:51:24Z</dcterms:created>
  <dcterms:modified xsi:type="dcterms:W3CDTF">2026-05-16T14:51:24Z</dcterms:modified>
</cp:coreProperties>
</file>